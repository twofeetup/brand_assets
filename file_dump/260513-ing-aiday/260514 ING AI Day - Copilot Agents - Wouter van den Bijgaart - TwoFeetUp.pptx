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323" r:id="rId2"/>
    <p:sldId id="325" r:id="rId3"/>
    <p:sldId id="326" r:id="rId4"/>
    <p:sldId id="327" r:id="rId5"/>
    <p:sldId id="328" r:id="rId6"/>
    <p:sldId id="329" r:id="rId7"/>
    <p:sldId id="330" r:id="rId8"/>
    <p:sldId id="331" r:id="rId9"/>
    <p:sldId id="332" r:id="rId10"/>
    <p:sldId id="333" r:id="rId11"/>
    <p:sldId id="334" r:id="rId12"/>
    <p:sldId id="335" r:id="rId13"/>
    <p:sldId id="336" r:id="rId14"/>
    <p:sldId id="337" r:id="rId15"/>
    <p:sldId id="338" r:id="rId16"/>
    <p:sldId id="339" r:id="rId17"/>
    <p:sldId id="340" r:id="rId18"/>
    <p:sldId id="319" r:id="rId19"/>
    <p:sldId id="320" r:id="rId20"/>
    <p:sldId id="341" r:id="rId21"/>
    <p:sldId id="342" r:id="rId22"/>
    <p:sldId id="324" r:id="rId23"/>
    <p:sldId id="358" r:id="rId24"/>
    <p:sldId id="360" r:id="rId25"/>
    <p:sldId id="361" r:id="rId26"/>
    <p:sldId id="362" r:id="rId27"/>
    <p:sldId id="363" r:id="rId28"/>
    <p:sldId id="364" r:id="rId29"/>
    <p:sldId id="366" r:id="rId3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507"/>
    <p:restoredTop sz="94610"/>
  </p:normalViewPr>
  <p:slideViewPr>
    <p:cSldViewPr snapToGrid="0" snapToObjects="1">
      <p:cViewPr varScale="1">
        <p:scale>
          <a:sx n="157" d="100"/>
          <a:sy n="157" d="100"/>
        </p:scale>
        <p:origin x="192" y="10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67473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223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0154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034"/>
          </a:solidFill>
          <a:ln/>
        </p:spPr>
      </p:sp>
    </p:spTree>
    <p:extLst>
      <p:ext uri="{BB962C8B-B14F-4D97-AF65-F5344CB8AC3E}">
        <p14:creationId xmlns:p14="http://schemas.microsoft.com/office/powerpoint/2010/main" val="2199251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0154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034"/>
          </a:solidFill>
          <a:ln/>
        </p:spPr>
      </p:sp>
    </p:spTree>
    <p:extLst>
      <p:ext uri="{BB962C8B-B14F-4D97-AF65-F5344CB8AC3E}">
        <p14:creationId xmlns:p14="http://schemas.microsoft.com/office/powerpoint/2010/main" val="283536468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hyperlink" Target="https://www.linkedin.com/in/wouter-van-den-bijgaart/" TargetMode="External"/><Relationship Id="rId7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hyperlink" Target="https://www.linkedin.com/in/wouter-van-den-bijgaart/" TargetMode="External"/><Relationship Id="rId7" Type="http://schemas.openxmlformats.org/officeDocument/2006/relationships/image" Target="../media/image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0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7315200" cy="7315200"/>
          </a:xfrm>
          <a:prstGeom prst="ellipse">
            <a:avLst/>
          </a:prstGeom>
          <a:solidFill>
            <a:srgbClr val="414099">
              <a:alpha val="40000"/>
            </a:srgbClr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Shape 1"/>
          <p:cNvSpPr/>
          <p:nvPr/>
        </p:nvSpPr>
        <p:spPr>
          <a:xfrm>
            <a:off x="7589520" y="2286000"/>
            <a:ext cx="8229600" cy="8229600"/>
          </a:xfrm>
          <a:prstGeom prst="ellipse">
            <a:avLst/>
          </a:prstGeom>
          <a:solidFill>
            <a:srgbClr val="8ED8F8">
              <a:alpha val="20000"/>
            </a:srgbClr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4" name="Image 0" descr="https://twofeetup.github.io/Brand_Assets/logos/TwoFeetUp_Full_Logo_Diapositief_Wit_For_dark_backgroun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548640"/>
            <a:ext cx="1828800" cy="26190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052560" y="502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400" dirty="0">
                <a:solidFill>
                  <a:srgbClr val="8473B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 PARTNERSHIP WITH</a:t>
            </a:r>
            <a:endParaRPr lang="en-US" sz="800" dirty="0"/>
          </a:p>
        </p:txBody>
      </p:sp>
      <p:pic>
        <p:nvPicPr>
          <p:cNvPr id="6" name="Image 1" descr="https://twofeetup.github.io/Brand_Assets/images/partner%20companies/Beeckestijn%20business%20school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882554" y="570861"/>
            <a:ext cx="1554480" cy="1555119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641080" y="1874520"/>
            <a:ext cx="2834640" cy="2834640"/>
          </a:xfrm>
          <a:prstGeom prst="ellipse">
            <a:avLst/>
          </a:prstGeom>
          <a:solidFill>
            <a:srgbClr val="8ED8F8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8" name="Image 2" descr="https://twofeetup.github.io/Brand_Assets/images/employees/Wout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2520" y="1965960"/>
            <a:ext cx="2651760" cy="2651760"/>
          </a:xfrm>
          <a:prstGeom prst="ellipse">
            <a:avLst/>
          </a:prstGeom>
        </p:spPr>
      </p:pic>
      <p:sp>
        <p:nvSpPr>
          <p:cNvPr id="9" name="Text 4"/>
          <p:cNvSpPr/>
          <p:nvPr/>
        </p:nvSpPr>
        <p:spPr>
          <a:xfrm>
            <a:off x="640080" y="19202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800" dirty="0">
                <a:solidFill>
                  <a:srgbClr val="FAA6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ING AI DAY  •  13 MAY 2026</a:t>
            </a:r>
            <a:endParaRPr lang="en-US" sz="1300" dirty="0"/>
          </a:p>
        </p:txBody>
      </p:sp>
      <p:sp>
        <p:nvSpPr>
          <p:cNvPr id="10" name="Text 5"/>
          <p:cNvSpPr/>
          <p:nvPr/>
        </p:nvSpPr>
        <p:spPr>
          <a:xfrm>
            <a:off x="640080" y="23774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Copilot Agents</a:t>
            </a:r>
            <a:endParaRPr lang="en-US" sz="5600" dirty="0"/>
          </a:p>
        </p:txBody>
      </p:sp>
      <p:sp>
        <p:nvSpPr>
          <p:cNvPr id="11" name="Text 6"/>
          <p:cNvSpPr/>
          <p:nvPr/>
        </p:nvSpPr>
        <p:spPr>
          <a:xfrm>
            <a:off x="640080" y="3383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dirty="0">
                <a:solidFill>
                  <a:srgbClr val="8ED8F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&amp; Advanced Prompts</a:t>
            </a:r>
            <a:endParaRPr lang="en-US" sz="5600" dirty="0"/>
          </a:p>
        </p:txBody>
      </p:sp>
      <p:sp>
        <p:nvSpPr>
          <p:cNvPr id="12" name="Text 7"/>
          <p:cNvSpPr/>
          <p:nvPr/>
        </p:nvSpPr>
        <p:spPr>
          <a:xfrm>
            <a:off x="640080" y="45262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(Forget prompt engineering)</a:t>
            </a:r>
            <a:endParaRPr lang="en-US" sz="1800" dirty="0"/>
          </a:p>
        </p:txBody>
      </p:sp>
      <p:sp>
        <p:nvSpPr>
          <p:cNvPr id="13" name="Shape 8"/>
          <p:cNvSpPr/>
          <p:nvPr/>
        </p:nvSpPr>
        <p:spPr>
          <a:xfrm>
            <a:off x="640080" y="5349240"/>
            <a:ext cx="457200" cy="36576"/>
          </a:xfrm>
          <a:prstGeom prst="rect">
            <a:avLst/>
          </a:prstGeom>
          <a:solidFill>
            <a:srgbClr val="FAA61A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4" name="Text 9"/>
          <p:cNvSpPr/>
          <p:nvPr/>
        </p:nvSpPr>
        <p:spPr>
          <a:xfrm>
            <a:off x="640080" y="54864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Wouter van den Bijgaart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640080" y="58978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473B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Founder, TwoFeetUp  ·  Docent, Beeckestijn Business School</a:t>
            </a:r>
            <a:endParaRPr lang="en-US" sz="1200" dirty="0"/>
          </a:p>
        </p:txBody>
      </p:sp>
      <p:sp>
        <p:nvSpPr>
          <p:cNvPr id="16" name="Text 11">
            <a:hlinkClick r:id="rId6"/>
          </p:cNvPr>
          <p:cNvSpPr/>
          <p:nvPr/>
        </p:nvSpPr>
        <p:spPr>
          <a:xfrm>
            <a:off x="640080" y="62636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u="sng" dirty="0">
                <a:solidFill>
                  <a:srgbClr val="8ED8F8"/>
                </a:solidFill>
                <a:latin typeface="Nunito" pitchFamily="34" charset="0"/>
                <a:ea typeface="Nunito" pitchFamily="34" charset="-122"/>
                <a:cs typeface="Nunito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linkedin.com/in/wouter-van-den-bijgaart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10607040" y="5394960"/>
            <a:ext cx="1280160" cy="12801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18" name="Image 3" descr="https://api.qrserver.com/v1/create-qr-code/?size=600x600&amp;margin=0&amp;color=050034&amp;bgcolor=ffffff&amp;data=https%3A%2F%2Fwww.linkedin.com%2Fin%2Fwouter-van-den-bijgaart%2F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52760" y="5440680"/>
            <a:ext cx="1188720" cy="11887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909560" y="56692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kern="0" spc="400" dirty="0">
                <a:solidFill>
                  <a:srgbClr val="FAA6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SCAN TO CONNECT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7909560" y="59893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400" i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on LinkedIn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551324631"/>
      </p:ext>
    </p:extLst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14099"/>
          </a:solidFill>
          <a:ln w="12700">
            <a:solidFill>
              <a:srgbClr val="414099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600" dirty="0">
                <a:solidFill>
                  <a:srgbClr val="FAA6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WHY YOU'RE HERE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By the end, you will leave with three things.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3505200" cy="3291840"/>
          </a:xfrm>
          <a:prstGeom prst="rect">
            <a:avLst/>
          </a:prstGeom>
          <a:solidFill>
            <a:srgbClr val="F1F2F2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3505200" cy="91440"/>
          </a:xfrm>
          <a:prstGeom prst="rect">
            <a:avLst/>
          </a:prstGeom>
          <a:solidFill>
            <a:srgbClr val="414099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7" name="Text 5"/>
          <p:cNvSpPr/>
          <p:nvPr/>
        </p:nvSpPr>
        <p:spPr>
          <a:xfrm>
            <a:off x="868680" y="2697480"/>
            <a:ext cx="286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AA6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01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868680" y="3657600"/>
            <a:ext cx="286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 working agent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68680" y="4480560"/>
            <a:ext cx="2865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Named, with custom instructions and at least one knowledge file. Built by you. Ready to use Monday.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28160" y="2377440"/>
            <a:ext cx="3505200" cy="3291840"/>
          </a:xfrm>
          <a:prstGeom prst="rect">
            <a:avLst/>
          </a:prstGeom>
          <a:solidFill>
            <a:srgbClr val="F1F2F2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1" name="Shape 9"/>
          <p:cNvSpPr/>
          <p:nvPr/>
        </p:nvSpPr>
        <p:spPr>
          <a:xfrm>
            <a:off x="4328160" y="2377440"/>
            <a:ext cx="3505200" cy="91440"/>
          </a:xfrm>
          <a:prstGeom prst="rect">
            <a:avLst/>
          </a:prstGeom>
          <a:solidFill>
            <a:srgbClr val="414099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2" name="Text 10"/>
          <p:cNvSpPr/>
          <p:nvPr/>
        </p:nvSpPr>
        <p:spPr>
          <a:xfrm>
            <a:off x="4648200" y="2697480"/>
            <a:ext cx="286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AA6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02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4648200" y="3657600"/>
            <a:ext cx="286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Preferences set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648200" y="4480560"/>
            <a:ext cx="2865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Configured once, applied to every Copilot conversation forever. The single highest-leverage 5 minutes of today.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07680" y="2377440"/>
            <a:ext cx="3505200" cy="3291840"/>
          </a:xfrm>
          <a:prstGeom prst="rect">
            <a:avLst/>
          </a:prstGeom>
          <a:solidFill>
            <a:srgbClr val="F1F2F2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6" name="Shape 14"/>
          <p:cNvSpPr/>
          <p:nvPr/>
        </p:nvSpPr>
        <p:spPr>
          <a:xfrm>
            <a:off x="8107680" y="2377440"/>
            <a:ext cx="3505200" cy="91440"/>
          </a:xfrm>
          <a:prstGeom prst="rect">
            <a:avLst/>
          </a:prstGeom>
          <a:solidFill>
            <a:srgbClr val="414099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7" name="Text 15"/>
          <p:cNvSpPr/>
          <p:nvPr/>
        </p:nvSpPr>
        <p:spPr>
          <a:xfrm>
            <a:off x="8427720" y="2697480"/>
            <a:ext cx="286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AA6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03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8427720" y="3657600"/>
            <a:ext cx="286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 new mindset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427720" y="4480560"/>
            <a:ext cx="2865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Stop writing prompts. State your goal, let the agent interview you. The shift from craft to conversation.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7FB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ING AI Day  •  13 May 2026  •  Wouter van den Bijgaart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789920" y="6492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FB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 / 22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158495844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14099"/>
          </a:solidFill>
          <a:ln w="12700">
            <a:solidFill>
              <a:srgbClr val="414099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600" dirty="0">
                <a:solidFill>
                  <a:srgbClr val="FAA6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ACT 1  •  THE REFRAME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What you were taught vs what actually works.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349240" cy="640080"/>
          </a:xfrm>
          <a:prstGeom prst="rect">
            <a:avLst/>
          </a:prstGeom>
          <a:solidFill>
            <a:srgbClr val="F1F2F2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Old paradigm  ·  2024 thinking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63640" y="2011680"/>
            <a:ext cx="5349240" cy="640080"/>
          </a:xfrm>
          <a:prstGeom prst="rect">
            <a:avLst/>
          </a:prstGeom>
          <a:solidFill>
            <a:srgbClr val="414099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8" name="Text 6"/>
          <p:cNvSpPr/>
          <p:nvPr/>
        </p:nvSpPr>
        <p:spPr>
          <a:xfrm>
            <a:off x="6537960" y="2011680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New paradigm  ·  day-to-day reality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743200"/>
            <a:ext cx="5349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1F2F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0" name="Text 8"/>
          <p:cNvSpPr/>
          <p:nvPr/>
        </p:nvSpPr>
        <p:spPr>
          <a:xfrm>
            <a:off x="822960" y="2743200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Write the perfect prompt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2743200"/>
            <a:ext cx="5349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414099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2" name="Text 10"/>
          <p:cNvSpPr/>
          <p:nvPr/>
        </p:nvSpPr>
        <p:spPr>
          <a:xfrm>
            <a:off x="6537960" y="2743200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State your goal, let the agent ask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429000"/>
            <a:ext cx="5349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1F2F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4" name="Text 12"/>
          <p:cNvSpPr/>
          <p:nvPr/>
        </p:nvSpPr>
        <p:spPr>
          <a:xfrm>
            <a:off x="822960" y="3429000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You lead, AI executes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63640" y="3429000"/>
            <a:ext cx="5349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414099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6" name="Text 14"/>
          <p:cNvSpPr/>
          <p:nvPr/>
        </p:nvSpPr>
        <p:spPr>
          <a:xfrm>
            <a:off x="6537960" y="3429000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AI leads, you answer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114800"/>
            <a:ext cx="5349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1F2F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8" name="Text 16"/>
          <p:cNvSpPr/>
          <p:nvPr/>
        </p:nvSpPr>
        <p:spPr>
          <a:xfrm>
            <a:off x="822960" y="4114800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skill is in the prompt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63640" y="4114800"/>
            <a:ext cx="5349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414099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0" name="Text 18"/>
          <p:cNvSpPr/>
          <p:nvPr/>
        </p:nvSpPr>
        <p:spPr>
          <a:xfrm>
            <a:off x="6537960" y="4114800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skill is in noticing drift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4800600"/>
            <a:ext cx="5349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1F2F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2" name="Text 20"/>
          <p:cNvSpPr/>
          <p:nvPr/>
        </p:nvSpPr>
        <p:spPr>
          <a:xfrm>
            <a:off x="822960" y="4800600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Frustrating to learn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63640" y="4800600"/>
            <a:ext cx="5349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414099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4" name="Text 22"/>
          <p:cNvSpPr/>
          <p:nvPr/>
        </p:nvSpPr>
        <p:spPr>
          <a:xfrm>
            <a:off x="6537960" y="4800600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Natural, like talking to a smart intern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5486400"/>
            <a:ext cx="5349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1F2F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6" name="Text 24"/>
          <p:cNvSpPr/>
          <p:nvPr/>
        </p:nvSpPr>
        <p:spPr>
          <a:xfrm>
            <a:off x="822960" y="5486400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Necessary for 100-user agents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263640" y="5486400"/>
            <a:ext cx="5349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414099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8" name="Text 26"/>
          <p:cNvSpPr/>
          <p:nvPr/>
        </p:nvSpPr>
        <p:spPr>
          <a:xfrm>
            <a:off x="6537960" y="5486400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Overkill for one customer email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7FB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ING AI Day  •  13 May 2026  •  Wouter van den Bijgaart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789920" y="6492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FB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3 / 22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317011933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140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8ED8F8"/>
          </a:solidFill>
          <a:ln w="12700">
            <a:solidFill>
              <a:srgbClr val="8ED8F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Shape 1"/>
          <p:cNvSpPr/>
          <p:nvPr/>
        </p:nvSpPr>
        <p:spPr>
          <a:xfrm>
            <a:off x="8503920" y="3200400"/>
            <a:ext cx="5486400" cy="5486400"/>
          </a:xfrm>
          <a:prstGeom prst="ellipse">
            <a:avLst/>
          </a:prstGeom>
          <a:solidFill>
            <a:srgbClr val="8ED8F8">
              <a:alpha val="25000"/>
            </a:srgbClr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4" name="Image 0" descr="https://twofeetup.github.io/Brand_Assets/logos/TwoFeetUp_Full_Logo_Diapositief_Wit_For_dark_backgroun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469880" y="320040"/>
            <a:ext cx="1371600" cy="19642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097280"/>
            <a:ext cx="10058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600" dirty="0">
                <a:solidFill>
                  <a:srgbClr val="FAA6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THESIS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40080" y="1645920"/>
            <a:ext cx="85039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Forget prompt engineering.</a:t>
            </a:r>
            <a:endParaRPr lang="en-US" sz="4200" dirty="0"/>
          </a:p>
          <a:p>
            <a:pPr marL="0" indent="0">
              <a:buNone/>
            </a:pPr>
            <a:endParaRPr lang="en-US" sz="4200" dirty="0"/>
          </a:p>
          <a:p>
            <a:pPr marL="0" indent="0">
              <a:buNone/>
            </a:pPr>
            <a:r>
              <a:rPr lang="en-US" sz="42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State your goal. State your task.</a:t>
            </a:r>
            <a:endParaRPr lang="en-US" sz="4200" dirty="0"/>
          </a:p>
          <a:p>
            <a:pPr marL="0" indent="0">
              <a:buNone/>
            </a:pPr>
            <a:r>
              <a:rPr lang="en-US" sz="42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Then let the agent </a:t>
            </a:r>
            <a:r>
              <a:rPr lang="en-US" sz="4200" i="1" dirty="0">
                <a:solidFill>
                  <a:srgbClr val="8ED8F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interview you.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640080" y="54864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8ED8F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Prompt engineering is end-game craft. For 95% of your Tuesday morning, you don't need it.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4864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ED8F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ING AI Day  •  13 May 2026  •  Wouter van den Bijgaart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789920" y="6492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FB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4 / 22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882148526"/>
      </p:ext>
    </p:extLst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0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-2743200"/>
            <a:ext cx="9144000" cy="9144000"/>
          </a:xfrm>
          <a:prstGeom prst="ellipse">
            <a:avLst/>
          </a:prstGeom>
          <a:solidFill>
            <a:srgbClr val="414099">
              <a:alpha val="35000"/>
            </a:srgbClr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Shape 1"/>
          <p:cNvSpPr/>
          <p:nvPr/>
        </p:nvSpPr>
        <p:spPr>
          <a:xfrm>
            <a:off x="-3657600" y="2286000"/>
            <a:ext cx="8229600" cy="8229600"/>
          </a:xfrm>
          <a:prstGeom prst="ellipse">
            <a:avLst/>
          </a:prstGeom>
          <a:solidFill>
            <a:srgbClr val="8ED8F8">
              <a:alpha val="18000"/>
            </a:srgbClr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AA61A"/>
          </a:solidFill>
          <a:ln w="12700">
            <a:solidFill>
              <a:srgbClr val="FAA61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pic>
        <p:nvPicPr>
          <p:cNvPr id="5" name="Image 0" descr="https://twofeetup.github.io/Brand_Assets/logos/TwoFeetUp_Full_Logo_Diapositief_Wit_For_dark_backgroun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469880" y="320040"/>
            <a:ext cx="1371600" cy="19642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777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800" dirty="0">
                <a:solidFill>
                  <a:srgbClr val="FAA6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NEW CRAFT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128016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CONTEXT</a:t>
            </a:r>
            <a:endParaRPr lang="en-US" sz="11000" dirty="0"/>
          </a:p>
        </p:txBody>
      </p:sp>
      <p:sp>
        <p:nvSpPr>
          <p:cNvPr id="8" name="Text 5"/>
          <p:cNvSpPr/>
          <p:nvPr/>
        </p:nvSpPr>
        <p:spPr>
          <a:xfrm>
            <a:off x="640080" y="260604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0" b="1" dirty="0">
                <a:solidFill>
                  <a:srgbClr val="8ED8F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ENGINEERING.</a:t>
            </a:r>
            <a:endParaRPr lang="en-US" sz="11000" dirty="0"/>
          </a:p>
        </p:txBody>
      </p:sp>
      <p:sp>
        <p:nvSpPr>
          <p:cNvPr id="9" name="Text 6"/>
          <p:cNvSpPr/>
          <p:nvPr/>
        </p:nvSpPr>
        <p:spPr>
          <a:xfrm>
            <a:off x="640080" y="41605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8473B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Not the prompt. </a:t>
            </a:r>
            <a:r>
              <a:rPr lang="en-US" sz="2200" i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context around it.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640080" y="5074920"/>
            <a:ext cx="2583180" cy="960120"/>
          </a:xfrm>
          <a:prstGeom prst="rect">
            <a:avLst/>
          </a:prstGeom>
          <a:solidFill>
            <a:srgbClr val="1A1850"/>
          </a:solidFill>
          <a:ln w="12700">
            <a:solidFill>
              <a:srgbClr val="414099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1" name="Text 8"/>
          <p:cNvSpPr/>
          <p:nvPr/>
        </p:nvSpPr>
        <p:spPr>
          <a:xfrm>
            <a:off x="822960" y="5212080"/>
            <a:ext cx="22174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AA6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YOU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22960" y="5486400"/>
            <a:ext cx="22174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Persoonlijke voorkeuren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406140" y="5074920"/>
            <a:ext cx="2583180" cy="960120"/>
          </a:xfrm>
          <a:prstGeom prst="rect">
            <a:avLst/>
          </a:prstGeom>
          <a:solidFill>
            <a:srgbClr val="1A1850"/>
          </a:solidFill>
          <a:ln w="12700">
            <a:solidFill>
              <a:srgbClr val="414099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4" name="Text 11"/>
          <p:cNvSpPr/>
          <p:nvPr/>
        </p:nvSpPr>
        <p:spPr>
          <a:xfrm>
            <a:off x="3589020" y="5212080"/>
            <a:ext cx="22174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AA6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AGENT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3589020" y="5486400"/>
            <a:ext cx="22174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Custom Instructions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172200" y="5074920"/>
            <a:ext cx="2583180" cy="960120"/>
          </a:xfrm>
          <a:prstGeom prst="rect">
            <a:avLst/>
          </a:prstGeom>
          <a:solidFill>
            <a:srgbClr val="1A1850"/>
          </a:solidFill>
          <a:ln w="12700">
            <a:solidFill>
              <a:srgbClr val="414099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7" name="Text 14"/>
          <p:cNvSpPr/>
          <p:nvPr/>
        </p:nvSpPr>
        <p:spPr>
          <a:xfrm>
            <a:off x="6355080" y="5212080"/>
            <a:ext cx="22174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AA6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SOURCE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355080" y="5486400"/>
            <a:ext cx="22174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Knowledge files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8938260" y="5074920"/>
            <a:ext cx="2583180" cy="960120"/>
          </a:xfrm>
          <a:prstGeom prst="rect">
            <a:avLst/>
          </a:prstGeom>
          <a:solidFill>
            <a:srgbClr val="1A1850"/>
          </a:solidFill>
          <a:ln w="12700">
            <a:solidFill>
              <a:srgbClr val="414099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0" name="Text 17"/>
          <p:cNvSpPr/>
          <p:nvPr/>
        </p:nvSpPr>
        <p:spPr>
          <a:xfrm>
            <a:off x="9121140" y="5212080"/>
            <a:ext cx="22174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AA6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FLOW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9121140" y="5486400"/>
            <a:ext cx="22174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conversation itself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4864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ED8F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ING AI Day  •  13 May 2026  •  Wouter van den Bijgaart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0789920" y="6492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FB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5 / 22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779301402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50034"/>
                </a:solidFill>
                <a:latin typeface="Nunito"/>
              </a:rPr>
              <a:t>Goal + Task + Open Questions invitation.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1">
                <a:solidFill>
                  <a:srgbClr val="6B6B8A"/>
                </a:solidFill>
                <a:latin typeface="Nunito"/>
              </a:rPr>
              <a:t>Three ingredients. The agent does the rest.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48840"/>
            <a:ext cx="3611880" cy="109728"/>
          </a:xfrm>
          <a:prstGeom prst="rect">
            <a:avLst/>
          </a:prstGeom>
          <a:solidFill>
            <a:srgbClr val="414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2148840"/>
            <a:ext cx="3611880" cy="4206240"/>
          </a:xfrm>
          <a:prstGeom prst="roundRect">
            <a:avLst>
              <a:gd name="adj" fmla="val 4000"/>
            </a:avLst>
          </a:prstGeom>
          <a:solidFill>
            <a:srgbClr val="F1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2148840"/>
            <a:ext cx="3611880" cy="109728"/>
          </a:xfrm>
          <a:prstGeom prst="rect">
            <a:avLst/>
          </a:prstGeom>
          <a:solidFill>
            <a:srgbClr val="414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441448"/>
            <a:ext cx="2971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414099"/>
                </a:solidFill>
                <a:latin typeface="Nunito"/>
              </a:rPr>
              <a:t>GOAL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926080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6B6B8A"/>
                </a:solidFill>
                <a:latin typeface="Nunito"/>
              </a:rPr>
              <a:t>The why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383280"/>
            <a:ext cx="2971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050034"/>
                </a:solidFill>
                <a:latin typeface="Nunito"/>
              </a:rPr>
              <a:t>Context that doesn't change
between prompts.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480560"/>
            <a:ext cx="3246120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4572000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414099"/>
                </a:solidFill>
                <a:latin typeface="Nunito"/>
              </a:rP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846320"/>
            <a:ext cx="29718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050034"/>
                </a:solidFill>
                <a:latin typeface="Nunito"/>
              </a:rPr>
              <a:t>“I'm preparing a stakeholder
update for Channels leadership
on Q3 sales.”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5112" y="2148840"/>
            <a:ext cx="3611880" cy="109728"/>
          </a:xfrm>
          <a:prstGeom prst="rect">
            <a:avLst/>
          </a:prstGeom>
          <a:solidFill>
            <a:srgbClr val="8473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325112" y="2148840"/>
            <a:ext cx="3611880" cy="4206240"/>
          </a:xfrm>
          <a:prstGeom prst="roundRect">
            <a:avLst>
              <a:gd name="adj" fmla="val 4000"/>
            </a:avLst>
          </a:prstGeom>
          <a:solidFill>
            <a:srgbClr val="F1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25112" y="2148840"/>
            <a:ext cx="3611880" cy="109728"/>
          </a:xfrm>
          <a:prstGeom prst="rect">
            <a:avLst/>
          </a:prstGeom>
          <a:solidFill>
            <a:srgbClr val="8473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45152" y="2441448"/>
            <a:ext cx="2971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8473B5"/>
                </a:solidFill>
                <a:latin typeface="Nunito"/>
              </a:rPr>
              <a:t>TASK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45152" y="2926080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6B6B8A"/>
                </a:solidFill>
                <a:latin typeface="Nunito"/>
              </a:rPr>
              <a:t>The what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5152" y="3383280"/>
            <a:ext cx="2971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050034"/>
                </a:solidFill>
                <a:latin typeface="Nunito"/>
              </a:rPr>
              <a:t>The specific deliverable today.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07992" y="4480560"/>
            <a:ext cx="3246120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645152" y="4572000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8473B5"/>
                </a:solidFill>
                <a:latin typeface="Nunito"/>
              </a:rPr>
              <a:t>EXAMPLE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45152" y="4846320"/>
            <a:ext cx="29718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050034"/>
                </a:solidFill>
                <a:latin typeface="Nunito"/>
              </a:rPr>
              <a:t>“I need a 3-slide deck outline.”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01584" y="2148840"/>
            <a:ext cx="3611880" cy="109728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101584" y="2148840"/>
            <a:ext cx="3611880" cy="4206240"/>
          </a:xfrm>
          <a:prstGeom prst="roundRect">
            <a:avLst>
              <a:gd name="adj" fmla="val 4000"/>
            </a:avLst>
          </a:prstGeom>
          <a:solidFill>
            <a:srgbClr val="F1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101584" y="2148840"/>
            <a:ext cx="3611880" cy="109728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21624" y="2441448"/>
            <a:ext cx="2971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FF6B1A"/>
                </a:solidFill>
                <a:latin typeface="Nunito"/>
              </a:rPr>
              <a:t>OPEN Q's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21624" y="2926080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6B6B8A"/>
                </a:solidFill>
                <a:latin typeface="Nunito"/>
              </a:rPr>
              <a:t>The invitation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21624" y="3383280"/>
            <a:ext cx="2971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050034"/>
                </a:solidFill>
                <a:latin typeface="Nunito"/>
              </a:rPr>
              <a:t>Tell the agent to interview you.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84464" y="4480560"/>
            <a:ext cx="3246120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21624" y="4572000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FF6B1A"/>
                </a:solidFill>
                <a:latin typeface="Nunito"/>
              </a:rPr>
              <a:t>EXAMPLE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21624" y="4846320"/>
            <a:ext cx="29718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050034"/>
                </a:solidFill>
                <a:latin typeface="Nunito"/>
              </a:rPr>
              <a:t>“Before you start, ask me the
5 most important questions you
need answered to make this
excellent.”</a:t>
            </a:r>
          </a:p>
        </p:txBody>
      </p:sp>
      <p:sp>
        <p:nvSpPr>
          <p:cNvPr id="32" name="Text 1">
            <a:extLst>
              <a:ext uri="{FF2B5EF4-FFF2-40B4-BE49-F238E27FC236}">
                <a16:creationId xmlns:a16="http://schemas.microsoft.com/office/drawing/2014/main" id="{A1A1FD7A-2C9B-1966-FF65-80C2BAB36CFC}"/>
              </a:ext>
            </a:extLst>
          </p:cNvPr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600" dirty="0">
                <a:solidFill>
                  <a:srgbClr val="FAA6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ACT 2  •  THE NEW PATTERN</a:t>
            </a:r>
            <a:endParaRPr lang="en-US" sz="1100" dirty="0"/>
          </a:p>
        </p:txBody>
      </p:sp>
      <p:sp>
        <p:nvSpPr>
          <p:cNvPr id="2" name="Text 23">
            <a:extLst>
              <a:ext uri="{FF2B5EF4-FFF2-40B4-BE49-F238E27FC236}">
                <a16:creationId xmlns:a16="http://schemas.microsoft.com/office/drawing/2014/main" id="{6D86FD44-BCDE-4136-6EE9-6EA912F9489D}"/>
              </a:ext>
            </a:extLst>
          </p:cNvPr>
          <p:cNvSpPr/>
          <p:nvPr/>
        </p:nvSpPr>
        <p:spPr>
          <a:xfrm>
            <a:off x="54864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7FB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ING AI Day  •  13 May 2026  •  Wouter van den Bijgaart</a:t>
            </a:r>
            <a:endParaRPr lang="en-US" sz="900" dirty="0"/>
          </a:p>
        </p:txBody>
      </p:sp>
      <p:sp>
        <p:nvSpPr>
          <p:cNvPr id="33" name="Shape 0">
            <a:extLst>
              <a:ext uri="{FF2B5EF4-FFF2-40B4-BE49-F238E27FC236}">
                <a16:creationId xmlns:a16="http://schemas.microsoft.com/office/drawing/2014/main" id="{F6A31FA6-F80D-574D-FC1B-039BBCB3720D}"/>
              </a:ext>
            </a:extLst>
          </p:cNvPr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14099"/>
          </a:solidFill>
          <a:ln w="12700">
            <a:solidFill>
              <a:srgbClr val="414099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FF384B0-64A4-004E-9D5C-00289F3C5A9D}"/>
              </a:ext>
            </a:extLst>
          </p:cNvPr>
          <p:cNvSpPr txBox="1"/>
          <p:nvPr/>
        </p:nvSpPr>
        <p:spPr>
          <a:xfrm>
            <a:off x="10789920" y="6492240"/>
            <a:ext cx="762000" cy="2286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7A7FB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6 / 22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029896583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/>
      <p:bldP spid="9" grpId="0"/>
      <p:bldP spid="10" grpId="0"/>
      <p:bldP spid="11" grpId="0" animBg="1"/>
      <p:bldP spid="12" grpId="0"/>
      <p:bldP spid="13" grpId="0"/>
      <p:bldP spid="14" grpId="0" animBg="1"/>
      <p:bldP spid="15" grpId="0" animBg="1"/>
      <p:bldP spid="16" grpId="0" animBg="1"/>
      <p:bldP spid="17" grpId="0"/>
      <p:bldP spid="18" grpId="0"/>
      <p:bldP spid="19" grpId="0"/>
      <p:bldP spid="20" grpId="0" animBg="1"/>
      <p:bldP spid="21" grpId="0"/>
      <p:bldP spid="22" grpId="0"/>
      <p:bldP spid="23" grpId="0" animBg="1"/>
      <p:bldP spid="24" grpId="0" animBg="1"/>
      <p:bldP spid="25" grpId="0" animBg="1"/>
      <p:bldP spid="26" grpId="0"/>
      <p:bldP spid="27" grpId="0"/>
      <p:bldP spid="28" grpId="0"/>
      <p:bldP spid="29" grpId="0" animBg="1"/>
      <p:bldP spid="30" grpId="0"/>
      <p:bldP spid="3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14099"/>
          </a:solidFill>
          <a:ln w="12700">
            <a:solidFill>
              <a:srgbClr val="414099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600" dirty="0">
                <a:solidFill>
                  <a:srgbClr val="FAA6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ACT 3  •  PERSONAL PREFERENCES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Set once. Applied to every Copilot conversation forever.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109728" cy="365760"/>
          </a:xfrm>
          <a:prstGeom prst="rect">
            <a:avLst/>
          </a:prstGeom>
          <a:solidFill>
            <a:srgbClr val="FAA61A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6" name="Text 4"/>
          <p:cNvSpPr/>
          <p:nvPr/>
        </p:nvSpPr>
        <p:spPr>
          <a:xfrm>
            <a:off x="914400" y="210312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Your role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0" y="210312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A7FB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"Channels manager at ING Consumer NL"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926080"/>
            <a:ext cx="109728" cy="365760"/>
          </a:xfrm>
          <a:prstGeom prst="rect">
            <a:avLst/>
          </a:prstGeom>
          <a:solidFill>
            <a:srgbClr val="FAA61A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9" name="Text 7"/>
          <p:cNvSpPr/>
          <p:nvPr/>
        </p:nvSpPr>
        <p:spPr>
          <a:xfrm>
            <a:off x="914400" y="278892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Work context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114800" y="278892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A7FB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"Tribe-based delivery, daily M365 user, 4-person squad"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611880"/>
            <a:ext cx="109728" cy="365760"/>
          </a:xfrm>
          <a:prstGeom prst="rect">
            <a:avLst/>
          </a:prstGeom>
          <a:solidFill>
            <a:srgbClr val="FAA61A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2" name="Text 10"/>
          <p:cNvSpPr/>
          <p:nvPr/>
        </p:nvSpPr>
        <p:spPr>
          <a:xfrm>
            <a:off x="914400" y="347472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Tone preferences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114800" y="347472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A7FB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"Direct, scannable, NL+EN bilingual, banking jargon ok"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297680"/>
            <a:ext cx="109728" cy="365760"/>
          </a:xfrm>
          <a:prstGeom prst="rect">
            <a:avLst/>
          </a:prstGeom>
          <a:solidFill>
            <a:srgbClr val="FAA61A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5" name="Text 13"/>
          <p:cNvSpPr/>
          <p:nvPr/>
        </p:nvSpPr>
        <p:spPr>
          <a:xfrm>
            <a:off x="914400" y="416052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Format preferences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114800" y="416052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A7FB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"Bullets over prose, numbered lists, max 200 words"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4983480"/>
            <a:ext cx="109728" cy="365760"/>
          </a:xfrm>
          <a:prstGeom prst="rect">
            <a:avLst/>
          </a:prstGeom>
          <a:solidFill>
            <a:srgbClr val="FAA61A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8" name="Text 16"/>
          <p:cNvSpPr/>
          <p:nvPr/>
        </p:nvSpPr>
        <p:spPr>
          <a:xfrm>
            <a:off x="914400" y="484632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Constraints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114800" y="484632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A7FB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"No corporate fluff. No 'as an AI...'. Always cite my files."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418320" y="2103120"/>
            <a:ext cx="2194560" cy="3383280"/>
          </a:xfrm>
          <a:prstGeom prst="rect">
            <a:avLst/>
          </a:prstGeom>
          <a:solidFill>
            <a:srgbClr val="414099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21" name="Text 19"/>
          <p:cNvSpPr/>
          <p:nvPr/>
        </p:nvSpPr>
        <p:spPr>
          <a:xfrm>
            <a:off x="9418320" y="26517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AA6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5 min</a:t>
            </a:r>
            <a:endParaRPr lang="en-US" sz="5600" dirty="0"/>
          </a:p>
        </p:txBody>
      </p:sp>
      <p:sp>
        <p:nvSpPr>
          <p:cNvPr id="22" name="Text 20"/>
          <p:cNvSpPr/>
          <p:nvPr/>
        </p:nvSpPr>
        <p:spPr>
          <a:xfrm>
            <a:off x="9418320" y="35661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today.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418320" y="4389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8ED8F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Years of payoff.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" y="58521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1409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Copilot Settings  &gt;  Personal Preferences  &gt;  fill in, save, done.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7FB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ING AI Day  •  13 May 2026  •  Wouter van den Bijgaart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789920" y="6492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FB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7 / 22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90018950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868680"/>
            <a:ext cx="109728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nl-NL" sz="3000" b="1" i="0" dirty="0" err="1">
                <a:solidFill>
                  <a:srgbClr val="050034"/>
                </a:solidFill>
                <a:latin typeface="Nunito"/>
              </a:rPr>
              <a:t>Who</a:t>
            </a:r>
            <a:r>
              <a:rPr lang="nl-NL" sz="3000" b="1" i="0" dirty="0">
                <a:solidFill>
                  <a:srgbClr val="050034"/>
                </a:solidFill>
                <a:latin typeface="Nunito"/>
              </a:rPr>
              <a:t> do </a:t>
            </a:r>
            <a:r>
              <a:rPr lang="nl-NL" sz="3000" b="1" i="0" dirty="0" err="1">
                <a:solidFill>
                  <a:srgbClr val="050034"/>
                </a:solidFill>
                <a:latin typeface="Nunito"/>
              </a:rPr>
              <a:t>you</a:t>
            </a:r>
            <a:r>
              <a:rPr lang="nl-NL" sz="3000" b="1" i="0" dirty="0">
                <a:solidFill>
                  <a:srgbClr val="050034"/>
                </a:solidFill>
                <a:latin typeface="Nunito"/>
              </a:rPr>
              <a:t> talk </a:t>
            </a:r>
            <a:r>
              <a:rPr lang="nl-NL" sz="3000" b="1" i="0" dirty="0" err="1">
                <a:solidFill>
                  <a:srgbClr val="050034"/>
                </a:solidFill>
                <a:latin typeface="Nunito"/>
              </a:rPr>
              <a:t>to</a:t>
            </a:r>
            <a:r>
              <a:rPr lang="nl-NL" sz="3000" b="1" i="0" dirty="0">
                <a:solidFill>
                  <a:srgbClr val="050034"/>
                </a:solidFill>
                <a:latin typeface="Nunito"/>
              </a:rPr>
              <a:t>?</a:t>
            </a:r>
            <a:endParaRPr sz="3000" b="1" i="0" dirty="0">
              <a:solidFill>
                <a:srgbClr val="050034"/>
              </a:solidFill>
              <a:latin typeface="Nunito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6B6B8A"/>
                </a:solidFill>
                <a:latin typeface="Nunito"/>
              </a:rPr>
              <a:t>Same shape for every agent you build. Fill the four boxes, get a working colleague.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5532120" cy="2011680"/>
          </a:xfrm>
          <a:prstGeom prst="roundRect">
            <a:avLst>
              <a:gd name="adj" fmla="val 5000"/>
            </a:avLst>
          </a:prstGeom>
          <a:solidFill>
            <a:srgbClr val="F1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2286000"/>
            <a:ext cx="137160" cy="2011680"/>
          </a:xfrm>
          <a:prstGeom prst="rect">
            <a:avLst/>
          </a:prstGeom>
          <a:solidFill>
            <a:srgbClr val="414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822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414099"/>
                </a:solidFill>
                <a:latin typeface="Nunit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514600"/>
            <a:ext cx="3977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50034"/>
                </a:solidFill>
                <a:latin typeface="Nunito"/>
              </a:rPr>
              <a:t>Role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54680"/>
            <a:ext cx="489204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 dirty="0">
                <a:solidFill>
                  <a:srgbClr val="050034"/>
                </a:solidFill>
                <a:latin typeface="Nunito"/>
              </a:rPr>
              <a:t>Who the agent is.
“You are Bram, the brief-builder for ING Channels.”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2286000"/>
            <a:ext cx="5532120" cy="2011680"/>
          </a:xfrm>
          <a:prstGeom prst="roundRect">
            <a:avLst>
              <a:gd name="adj" fmla="val 5000"/>
            </a:avLst>
          </a:prstGeom>
          <a:solidFill>
            <a:srgbClr val="F1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45352" y="2286000"/>
            <a:ext cx="137160" cy="2011680"/>
          </a:xfrm>
          <a:prstGeom prst="rect">
            <a:avLst/>
          </a:prstGeom>
          <a:solidFill>
            <a:srgbClr val="8473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11112" y="2514600"/>
            <a:ext cx="822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8473B5"/>
                </a:solidFill>
                <a:latin typeface="Nunito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25512" y="2514600"/>
            <a:ext cx="3977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50034"/>
                </a:solidFill>
                <a:latin typeface="Nunito"/>
              </a:rPr>
              <a:t>Style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1112" y="3154680"/>
            <a:ext cx="489204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 dirty="0">
                <a:solidFill>
                  <a:srgbClr val="050034"/>
                </a:solidFill>
                <a:latin typeface="Nunito"/>
              </a:rPr>
              <a:t>How it speaks.
Tone, length, bullets vs prose, language.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462272"/>
            <a:ext cx="5532120" cy="2011680"/>
          </a:xfrm>
          <a:prstGeom prst="roundRect">
            <a:avLst>
              <a:gd name="adj" fmla="val 5000"/>
            </a:avLst>
          </a:prstGeom>
          <a:solidFill>
            <a:srgbClr val="F1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48640" y="4462272"/>
            <a:ext cx="137160" cy="2011680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4690872"/>
            <a:ext cx="822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FF6B1A"/>
                </a:solidFill>
                <a:latin typeface="Nunito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690872"/>
            <a:ext cx="3977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50034"/>
                </a:solidFill>
                <a:latin typeface="Nunito"/>
              </a:rPr>
              <a:t>Rules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330952"/>
            <a:ext cx="489204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 dirty="0">
                <a:solidFill>
                  <a:srgbClr val="050034"/>
                </a:solidFill>
                <a:latin typeface="Nunito"/>
              </a:rPr>
              <a:t>What it always does and never does.
E.g. always cite sources, never invent customer data.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45352" y="4462272"/>
            <a:ext cx="5532120" cy="2011680"/>
          </a:xfrm>
          <a:prstGeom prst="roundRect">
            <a:avLst>
              <a:gd name="adj" fmla="val 5000"/>
            </a:avLst>
          </a:prstGeom>
          <a:solidFill>
            <a:srgbClr val="F1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45352" y="4462272"/>
            <a:ext cx="137160" cy="2011680"/>
          </a:xfrm>
          <a:prstGeom prst="rect">
            <a:avLst/>
          </a:prstGeom>
          <a:solidFill>
            <a:srgbClr val="414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11112" y="4690872"/>
            <a:ext cx="822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414099"/>
                </a:solidFill>
                <a:latin typeface="Nunito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25512" y="4690872"/>
            <a:ext cx="397764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nl-NL" sz="2000" b="1" dirty="0">
                <a:solidFill>
                  <a:srgbClr val="050034"/>
                </a:solidFill>
                <a:latin typeface="Nunito"/>
              </a:rPr>
              <a:t>B</a:t>
            </a:r>
            <a:r>
              <a:rPr sz="2000" b="1" i="0" dirty="0" err="1">
                <a:solidFill>
                  <a:srgbClr val="050034"/>
                </a:solidFill>
                <a:latin typeface="Nunito"/>
              </a:rPr>
              <a:t>ehaviour</a:t>
            </a:r>
            <a:endParaRPr sz="2000" b="1" i="0" dirty="0">
              <a:solidFill>
                <a:srgbClr val="050034"/>
              </a:solidFill>
              <a:latin typeface="Nunito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611112" y="5330952"/>
            <a:ext cx="489204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 dirty="0">
                <a:solidFill>
                  <a:srgbClr val="050034"/>
                </a:solidFill>
                <a:latin typeface="Nunito"/>
              </a:rPr>
              <a:t>Does it ask questions first?
“Before producing anything, ask me 3 clarifying questions.”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5840" y="6510528"/>
            <a:ext cx="9601200" cy="12700"/>
          </a:xfrm>
          <a:prstGeom prst="rect">
            <a:avLst/>
          </a:prstGeom>
          <a:solidFill>
            <a:srgbClr val="F1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 1">
            <a:extLst>
              <a:ext uri="{FF2B5EF4-FFF2-40B4-BE49-F238E27FC236}">
                <a16:creationId xmlns:a16="http://schemas.microsoft.com/office/drawing/2014/main" id="{E606A166-E05A-20EF-93DF-EE396388CBDA}"/>
              </a:ext>
            </a:extLst>
          </p:cNvPr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600" dirty="0">
                <a:solidFill>
                  <a:srgbClr val="FAA6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ACT 4  •  CUSTOM INSTRUCTIONS</a:t>
            </a:r>
            <a:endParaRPr lang="en-US" sz="1100" dirty="0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B5291629-0F17-7FD7-2E45-229F5F9CE793}"/>
              </a:ext>
            </a:extLst>
          </p:cNvPr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14099"/>
          </a:solidFill>
          <a:ln w="12700">
            <a:solidFill>
              <a:srgbClr val="414099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955E3FB0-0566-2C92-C2EA-8A9443EB1921}"/>
              </a:ext>
            </a:extLst>
          </p:cNvPr>
          <p:cNvSpPr/>
          <p:nvPr/>
        </p:nvSpPr>
        <p:spPr>
          <a:xfrm>
            <a:off x="54864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7FB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ING AI Day  •  13 May 2026  •  Wouter van den Bijgaart</a:t>
            </a:r>
            <a:endParaRPr lang="en-US" sz="9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88B926E-8277-1C44-B6AD-16F96F11C933}"/>
              </a:ext>
            </a:extLst>
          </p:cNvPr>
          <p:cNvSpPr txBox="1"/>
          <p:nvPr/>
        </p:nvSpPr>
        <p:spPr>
          <a:xfrm>
            <a:off x="10789920" y="6492240"/>
            <a:ext cx="762000" cy="2286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7A7FB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8 / 22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58880236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/>
      <p:bldP spid="8" grpId="0"/>
      <p:bldP spid="9" grpId="0"/>
      <p:bldP spid="10" grpId="0" animBg="1"/>
      <p:bldP spid="11" grpId="0" animBg="1"/>
      <p:bldP spid="12" grpId="0"/>
      <p:bldP spid="13" grpId="0"/>
      <p:bldP spid="14" grpId="0"/>
      <p:bldP spid="15" grpId="0" animBg="1"/>
      <p:bldP spid="16" grpId="0" animBg="1"/>
      <p:bldP spid="17" grpId="0"/>
      <p:bldP spid="18" grpId="0"/>
      <p:bldP spid="19" grpId="0"/>
      <p:bldP spid="20" grpId="0" animBg="1"/>
      <p:bldP spid="21" grpId="0" animBg="1"/>
      <p:bldP spid="22" grpId="0"/>
      <p:bldP spid="23" grpId="0"/>
      <p:bldP spid="2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14099"/>
          </a:solidFill>
          <a:ln w="12700">
            <a:solidFill>
              <a:srgbClr val="414099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600" dirty="0">
                <a:solidFill>
                  <a:srgbClr val="FAA6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ACT 4  •  CUSTOM INSTRUCTIONS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Personal preferences vs Custom Instructions.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349240" cy="640080"/>
          </a:xfrm>
          <a:prstGeom prst="rect">
            <a:avLst/>
          </a:prstGeom>
          <a:solidFill>
            <a:srgbClr val="8ED8F8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Personal preferences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63640" y="2011680"/>
            <a:ext cx="5349240" cy="640080"/>
          </a:xfrm>
          <a:prstGeom prst="rect">
            <a:avLst/>
          </a:prstGeom>
          <a:solidFill>
            <a:srgbClr val="414099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8" name="Text 6"/>
          <p:cNvSpPr/>
          <p:nvPr/>
        </p:nvSpPr>
        <p:spPr>
          <a:xfrm>
            <a:off x="6537960" y="2011680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Custom instructions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743200"/>
            <a:ext cx="5349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1F2F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0" name="Text 8"/>
          <p:cNvSpPr/>
          <p:nvPr/>
        </p:nvSpPr>
        <p:spPr>
          <a:xfrm>
            <a:off x="822960" y="274320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Applies to EVERY Copilot interaction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2743200"/>
            <a:ext cx="5349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1F2F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2" name="Text 10"/>
          <p:cNvSpPr/>
          <p:nvPr/>
        </p:nvSpPr>
        <p:spPr>
          <a:xfrm>
            <a:off x="6537960" y="274320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Applies to ONE specific agent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520440"/>
            <a:ext cx="5349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1F2F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4" name="Text 12"/>
          <p:cNvSpPr/>
          <p:nvPr/>
        </p:nvSpPr>
        <p:spPr>
          <a:xfrm>
            <a:off x="822960" y="352044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About you as a person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63640" y="3520440"/>
            <a:ext cx="5349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1F2F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6" name="Text 14"/>
          <p:cNvSpPr/>
          <p:nvPr/>
        </p:nvSpPr>
        <p:spPr>
          <a:xfrm>
            <a:off x="6537960" y="352044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About the agent's specific job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297680"/>
            <a:ext cx="5349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1F2F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8" name="Text 16"/>
          <p:cNvSpPr/>
          <p:nvPr/>
        </p:nvSpPr>
        <p:spPr>
          <a:xfrm>
            <a:off x="822960" y="429768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"I am Wouter, I prefer bullets"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63640" y="4297680"/>
            <a:ext cx="5349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1F2F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0" name="Text 18"/>
          <p:cNvSpPr/>
          <p:nvPr/>
        </p:nvSpPr>
        <p:spPr>
          <a:xfrm>
            <a:off x="6537960" y="429768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"You are Bram the brief-builder. Always ask 3 questions first."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5074920"/>
            <a:ext cx="5349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1F2F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2" name="Text 20"/>
          <p:cNvSpPr/>
          <p:nvPr/>
        </p:nvSpPr>
        <p:spPr>
          <a:xfrm>
            <a:off x="822960" y="507492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Set in Settings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63640" y="5074920"/>
            <a:ext cx="5349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1F2F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4" name="Text 22"/>
          <p:cNvSpPr/>
          <p:nvPr/>
        </p:nvSpPr>
        <p:spPr>
          <a:xfrm>
            <a:off x="6537960" y="507492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Set in Agent Builder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5897880"/>
            <a:ext cx="10881360" cy="457200"/>
          </a:xfrm>
          <a:prstGeom prst="rect">
            <a:avLst/>
          </a:prstGeom>
          <a:solidFill>
            <a:srgbClr val="FAA61A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26" name="Text 24"/>
          <p:cNvSpPr/>
          <p:nvPr/>
        </p:nvSpPr>
        <p:spPr>
          <a:xfrm>
            <a:off x="777240" y="58978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Personal preferences is about you. Custom Instructions is about the colleague you're hiring.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7FB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ING AI Day  •  13 May 2026  •  Wouter van den Bijgaart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789920" y="6492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FB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9 / 22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665432309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0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8ED8F8"/>
          </a:solidFill>
          <a:ln w="12700">
            <a:solidFill>
              <a:srgbClr val="8ED8F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pic>
        <p:nvPicPr>
          <p:cNvPr id="3" name="Image 0" descr="https://twofeetup.github.io/Brand_Assets/logos/TwoFeetUp_Full_Logo_Diapositief_Wit_For_dark_backgroun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469880" y="320040"/>
            <a:ext cx="1371600" cy="1964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600" dirty="0">
                <a:solidFill>
                  <a:srgbClr val="FAA6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ACT 5  •  THE COPILOT INTEGRATION STORY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Seven features that make the difference.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457200" y="2194560"/>
            <a:ext cx="2606040" cy="1874520"/>
          </a:xfrm>
          <a:prstGeom prst="rect">
            <a:avLst/>
          </a:prstGeom>
          <a:solidFill>
            <a:srgbClr val="1A1850"/>
          </a:solidFill>
          <a:ln w="12700">
            <a:solidFill>
              <a:srgbClr val="414099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7" name="Shape 4"/>
          <p:cNvSpPr/>
          <p:nvPr/>
        </p:nvSpPr>
        <p:spPr>
          <a:xfrm>
            <a:off x="731520" y="2468880"/>
            <a:ext cx="640080" cy="640080"/>
          </a:xfrm>
          <a:prstGeom prst="ellipse">
            <a:avLst/>
          </a:prstGeom>
          <a:solidFill>
            <a:srgbClr val="FAA61A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8" name="Text 5"/>
          <p:cNvSpPr/>
          <p:nvPr/>
        </p:nvSpPr>
        <p:spPr>
          <a:xfrm>
            <a:off x="73152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/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31520" y="32004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Slash references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31520" y="35661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D8F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OneDrive &amp; SharePoint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337560" y="2194560"/>
            <a:ext cx="2606040" cy="1874520"/>
          </a:xfrm>
          <a:prstGeom prst="rect">
            <a:avLst/>
          </a:prstGeom>
          <a:solidFill>
            <a:srgbClr val="1A1850"/>
          </a:solidFill>
          <a:ln w="12700">
            <a:solidFill>
              <a:srgbClr val="414099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2" name="Shape 9"/>
          <p:cNvSpPr/>
          <p:nvPr/>
        </p:nvSpPr>
        <p:spPr>
          <a:xfrm>
            <a:off x="3611880" y="2468880"/>
            <a:ext cx="640080" cy="640080"/>
          </a:xfrm>
          <a:prstGeom prst="ellipse">
            <a:avLst/>
          </a:prstGeom>
          <a:solidFill>
            <a:srgbClr val="FAA61A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3" name="Text 10"/>
          <p:cNvSpPr/>
          <p:nvPr/>
        </p:nvSpPr>
        <p:spPr>
          <a:xfrm>
            <a:off x="361188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⇄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3611880" y="32004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Work vs Web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611880" y="35661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D8F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Toggle, top of chat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217920" y="2194560"/>
            <a:ext cx="2606040" cy="1874520"/>
          </a:xfrm>
          <a:prstGeom prst="rect">
            <a:avLst/>
          </a:prstGeom>
          <a:solidFill>
            <a:srgbClr val="1A1850"/>
          </a:solidFill>
          <a:ln w="12700">
            <a:solidFill>
              <a:srgbClr val="414099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7" name="Shape 14"/>
          <p:cNvSpPr/>
          <p:nvPr/>
        </p:nvSpPr>
        <p:spPr>
          <a:xfrm>
            <a:off x="6492240" y="2468880"/>
            <a:ext cx="640080" cy="640080"/>
          </a:xfrm>
          <a:prstGeom prst="ellipse">
            <a:avLst/>
          </a:prstGeom>
          <a:solidFill>
            <a:srgbClr val="FAA61A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8" name="Text 15"/>
          <p:cNvSpPr/>
          <p:nvPr/>
        </p:nvSpPr>
        <p:spPr>
          <a:xfrm>
            <a:off x="649224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6492240" y="32004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App-to-app handoff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492240" y="35661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D8F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Teams → Outlook → Word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9098280" y="2194560"/>
            <a:ext cx="2606040" cy="1874520"/>
          </a:xfrm>
          <a:prstGeom prst="rect">
            <a:avLst/>
          </a:prstGeom>
          <a:solidFill>
            <a:srgbClr val="1A1850"/>
          </a:solidFill>
          <a:ln w="12700">
            <a:solidFill>
              <a:srgbClr val="414099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2" name="Shape 19"/>
          <p:cNvSpPr/>
          <p:nvPr/>
        </p:nvSpPr>
        <p:spPr>
          <a:xfrm>
            <a:off x="9372600" y="2468880"/>
            <a:ext cx="640080" cy="640080"/>
          </a:xfrm>
          <a:prstGeom prst="ellipse">
            <a:avLst/>
          </a:prstGeom>
          <a:solidFill>
            <a:srgbClr val="FAA61A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23" name="Text 20"/>
          <p:cNvSpPr/>
          <p:nvPr/>
        </p:nvSpPr>
        <p:spPr>
          <a:xfrm>
            <a:off x="937260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9372600" y="32004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Pages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9372600" y="35661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D8F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Collaborative editable docs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1897380" y="4297680"/>
            <a:ext cx="2606040" cy="1874520"/>
          </a:xfrm>
          <a:prstGeom prst="rect">
            <a:avLst/>
          </a:prstGeom>
          <a:solidFill>
            <a:srgbClr val="1A1850"/>
          </a:solidFill>
          <a:ln w="12700">
            <a:solidFill>
              <a:srgbClr val="414099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7" name="Shape 24"/>
          <p:cNvSpPr/>
          <p:nvPr/>
        </p:nvSpPr>
        <p:spPr>
          <a:xfrm>
            <a:off x="2171700" y="4572000"/>
            <a:ext cx="640080" cy="640080"/>
          </a:xfrm>
          <a:prstGeom prst="ellipse">
            <a:avLst/>
          </a:prstGeom>
          <a:solidFill>
            <a:srgbClr val="FAA61A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28" name="Text 25"/>
          <p:cNvSpPr/>
          <p:nvPr/>
        </p:nvSpPr>
        <p:spPr>
          <a:xfrm>
            <a:off x="2171700" y="4572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♪</a:t>
            </a:r>
            <a:endParaRPr lang="en-US" sz="2200" dirty="0"/>
          </a:p>
        </p:txBody>
      </p:sp>
      <p:sp>
        <p:nvSpPr>
          <p:cNvPr id="29" name="Text 26"/>
          <p:cNvSpPr/>
          <p:nvPr/>
        </p:nvSpPr>
        <p:spPr>
          <a:xfrm>
            <a:off x="2171700" y="53035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Voice input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2171700" y="56692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D8F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+ WisprFlow as a stretch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4777740" y="4297680"/>
            <a:ext cx="2606040" cy="1874520"/>
          </a:xfrm>
          <a:prstGeom prst="rect">
            <a:avLst/>
          </a:prstGeom>
          <a:solidFill>
            <a:srgbClr val="1A1850"/>
          </a:solidFill>
          <a:ln w="12700">
            <a:solidFill>
              <a:srgbClr val="414099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2" name="Shape 29"/>
          <p:cNvSpPr/>
          <p:nvPr/>
        </p:nvSpPr>
        <p:spPr>
          <a:xfrm>
            <a:off x="5052060" y="4572000"/>
            <a:ext cx="640080" cy="640080"/>
          </a:xfrm>
          <a:prstGeom prst="ellipse">
            <a:avLst/>
          </a:prstGeom>
          <a:solidFill>
            <a:srgbClr val="FAA61A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3" name="Text 30"/>
          <p:cNvSpPr/>
          <p:nvPr/>
        </p:nvSpPr>
        <p:spPr>
          <a:xfrm>
            <a:off x="5052060" y="4572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⏱</a:t>
            </a:r>
            <a:endParaRPr lang="en-US" sz="2200" dirty="0"/>
          </a:p>
        </p:txBody>
      </p:sp>
      <p:sp>
        <p:nvSpPr>
          <p:cNvPr id="34" name="Text 31"/>
          <p:cNvSpPr/>
          <p:nvPr/>
        </p:nvSpPr>
        <p:spPr>
          <a:xfrm>
            <a:off x="5052060" y="53035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Schedule Prompts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5052060" y="56692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D8F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Run weekly, auto-write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7658100" y="4297680"/>
            <a:ext cx="2606040" cy="1874520"/>
          </a:xfrm>
          <a:prstGeom prst="rect">
            <a:avLst/>
          </a:prstGeom>
          <a:solidFill>
            <a:srgbClr val="1A1850"/>
          </a:solidFill>
          <a:ln w="12700">
            <a:solidFill>
              <a:srgbClr val="414099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7" name="Shape 34"/>
          <p:cNvSpPr/>
          <p:nvPr/>
        </p:nvSpPr>
        <p:spPr>
          <a:xfrm>
            <a:off x="7932420" y="4572000"/>
            <a:ext cx="640080" cy="640080"/>
          </a:xfrm>
          <a:prstGeom prst="ellipse">
            <a:avLst/>
          </a:prstGeom>
          <a:solidFill>
            <a:srgbClr val="FAA61A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8" name="Text 35"/>
          <p:cNvSpPr/>
          <p:nvPr/>
        </p:nvSpPr>
        <p:spPr>
          <a:xfrm>
            <a:off x="7932420" y="4572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⌕</a:t>
            </a:r>
            <a:endParaRPr lang="en-US" sz="2200" dirty="0"/>
          </a:p>
        </p:txBody>
      </p:sp>
      <p:sp>
        <p:nvSpPr>
          <p:cNvPr id="39" name="Text 36"/>
          <p:cNvSpPr/>
          <p:nvPr/>
        </p:nvSpPr>
        <p:spPr>
          <a:xfrm>
            <a:off x="7932420" y="53035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Deep Research</a:t>
            </a:r>
            <a:endParaRPr lang="en-US" sz="1400" dirty="0"/>
          </a:p>
        </p:txBody>
      </p:sp>
      <p:sp>
        <p:nvSpPr>
          <p:cNvPr id="40" name="Text 37"/>
          <p:cNvSpPr/>
          <p:nvPr/>
        </p:nvSpPr>
        <p:spPr>
          <a:xfrm>
            <a:off x="7932420" y="56692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D8F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Multi-step, cited reports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54864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ED8F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ING AI Day  •  13 May 2026  •  Wouter van den Bijgaart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10789920" y="6492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FB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10 / 22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598971857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14099"/>
          </a:solidFill>
          <a:ln w="12700">
            <a:solidFill>
              <a:srgbClr val="414099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600" dirty="0">
                <a:solidFill>
                  <a:srgbClr val="FAA6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5.1  •  SLASH REFERENCES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Type / and pull any file into the chat.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1409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Files, people, meetings. The fastest way to ground Copilot in your work.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816352"/>
            <a:ext cx="164592" cy="164592"/>
          </a:xfrm>
          <a:prstGeom prst="ellipse">
            <a:avLst/>
          </a:prstGeom>
          <a:solidFill>
            <a:srgbClr val="FAA61A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7" name="Text 5"/>
          <p:cNvSpPr/>
          <p:nvPr/>
        </p:nvSpPr>
        <p:spPr>
          <a:xfrm>
            <a:off x="960120" y="26517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Works in OneDrive and SharePoint.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456432"/>
            <a:ext cx="164592" cy="164592"/>
          </a:xfrm>
          <a:prstGeom prst="ellipse">
            <a:avLst/>
          </a:prstGeom>
          <a:solidFill>
            <a:srgbClr val="FAA61A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9" name="Text 7"/>
          <p:cNvSpPr/>
          <p:nvPr/>
        </p:nvSpPr>
        <p:spPr>
          <a:xfrm>
            <a:off x="960120" y="32918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Does NOT work for Orangesharing or The Forge.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4096512"/>
            <a:ext cx="164592" cy="164592"/>
          </a:xfrm>
          <a:prstGeom prst="ellipse">
            <a:avLst/>
          </a:prstGeom>
          <a:solidFill>
            <a:srgbClr val="FAA61A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1" name="Text 9"/>
          <p:cNvSpPr/>
          <p:nvPr/>
        </p:nvSpPr>
        <p:spPr>
          <a:xfrm>
            <a:off x="960120" y="39319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That's a roadmap issue, not a Copilot bug.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736592"/>
            <a:ext cx="164592" cy="164592"/>
          </a:xfrm>
          <a:prstGeom prst="ellipse">
            <a:avLst/>
          </a:prstGeom>
          <a:solidFill>
            <a:srgbClr val="FAA61A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3" name="Text 11"/>
          <p:cNvSpPr/>
          <p:nvPr/>
        </p:nvSpPr>
        <p:spPr>
          <a:xfrm>
            <a:off x="960120" y="45720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Pair with /meeting recaps for instant follow-up drafts.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863840" y="2651760"/>
            <a:ext cx="3657600" cy="2011680"/>
          </a:xfrm>
          <a:prstGeom prst="rect">
            <a:avLst/>
          </a:prstGeom>
          <a:solidFill>
            <a:srgbClr val="050034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5" name="Shape 13"/>
          <p:cNvSpPr/>
          <p:nvPr/>
        </p:nvSpPr>
        <p:spPr>
          <a:xfrm>
            <a:off x="7863840" y="2651760"/>
            <a:ext cx="3657600" cy="411480"/>
          </a:xfrm>
          <a:prstGeom prst="rect">
            <a:avLst/>
          </a:prstGeom>
          <a:solidFill>
            <a:srgbClr val="FAA61A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6" name="Text 14"/>
          <p:cNvSpPr/>
          <p:nvPr/>
        </p:nvSpPr>
        <p:spPr>
          <a:xfrm>
            <a:off x="8092440" y="26517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138160" y="3200400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"Summarise /Q3-tribe-update.pptx for me."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7FB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ING AI Day  •  13 May 2026  •  Wouter van den Bijgaart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789920" y="6492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FB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11 / 22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795077208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4140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8ED8F8"/>
          </a:solidFill>
          <a:ln w="12700">
            <a:solidFill>
              <a:srgbClr val="8ED8F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Shape 1"/>
          <p:cNvSpPr/>
          <p:nvPr/>
        </p:nvSpPr>
        <p:spPr>
          <a:xfrm>
            <a:off x="8503920" y="3200400"/>
            <a:ext cx="5486400" cy="5486400"/>
          </a:xfrm>
          <a:prstGeom prst="ellipse">
            <a:avLst/>
          </a:prstGeom>
          <a:solidFill>
            <a:srgbClr val="8ED8F8">
              <a:alpha val="25000"/>
            </a:srgbClr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4" name="Image 0" descr="https://twofeetup.github.io/Brand_Assets/logos/TwoFeetUp_Full_Logo_Diapositief_Wit_For_dark_backgroun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469880" y="320040"/>
            <a:ext cx="1371600" cy="19642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600" dirty="0">
                <a:solidFill>
                  <a:srgbClr val="FAA6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5.2  •  THE HEADLINE DEMO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4864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Teams meeting to follow-up email in 90 seconds.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1051560" y="2377440"/>
            <a:ext cx="3108960" cy="1828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8" name="Text 5"/>
          <p:cNvSpPr/>
          <p:nvPr/>
        </p:nvSpPr>
        <p:spPr>
          <a:xfrm>
            <a:off x="1280160" y="25603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AA6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TEAMS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280160" y="2971800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Open a recent meeting with transcription on.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 rot="5400000">
            <a:off x="4206240" y="3154680"/>
            <a:ext cx="274320" cy="274320"/>
          </a:xfrm>
          <a:prstGeom prst="rtTriangle">
            <a:avLst/>
          </a:prstGeom>
          <a:solidFill>
            <a:srgbClr val="FAA61A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1" name="Shape 8"/>
          <p:cNvSpPr/>
          <p:nvPr/>
        </p:nvSpPr>
        <p:spPr>
          <a:xfrm>
            <a:off x="4526280" y="2377440"/>
            <a:ext cx="3108960" cy="1828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2" name="Text 9"/>
          <p:cNvSpPr/>
          <p:nvPr/>
        </p:nvSpPr>
        <p:spPr>
          <a:xfrm>
            <a:off x="4754880" y="25603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AA6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COPILOT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754880" y="2971800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"Summarise this meeting and draft a follow-up email to all attendees."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 rot="5400000">
            <a:off x="7680960" y="3154680"/>
            <a:ext cx="274320" cy="274320"/>
          </a:xfrm>
          <a:prstGeom prst="rtTriangle">
            <a:avLst/>
          </a:prstGeom>
          <a:solidFill>
            <a:srgbClr val="FAA61A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5" name="Shape 12"/>
          <p:cNvSpPr/>
          <p:nvPr/>
        </p:nvSpPr>
        <p:spPr>
          <a:xfrm>
            <a:off x="8001000" y="2377440"/>
            <a:ext cx="3108960" cy="1828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6" name="Text 13"/>
          <p:cNvSpPr/>
          <p:nvPr/>
        </p:nvSpPr>
        <p:spPr>
          <a:xfrm>
            <a:off x="8229600" y="25603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AA6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OUTLOOK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229600" y="2971800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Copilot writes the email in Outlook. You review, edit, send.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48640" y="49377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AA6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90 seconds</a:t>
            </a:r>
            <a:endParaRPr lang="en-US" sz="3600" dirty="0"/>
          </a:p>
        </p:txBody>
      </p:sp>
      <p:sp>
        <p:nvSpPr>
          <p:cNvPr id="19" name="Text 16"/>
          <p:cNvSpPr/>
          <p:nvPr/>
        </p:nvSpPr>
        <p:spPr>
          <a:xfrm>
            <a:off x="548640" y="55778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for what used to take 15 minutes.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4864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ED8F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ING AI Day  •  13 May 2026  •  Wouter van den Bijgaart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0789920" y="6492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FB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12 / 22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84016245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14099"/>
          </a:solidFill>
          <a:ln w="12700">
            <a:solidFill>
              <a:srgbClr val="414099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600" dirty="0">
                <a:solidFill>
                  <a:srgbClr val="FAA6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5.3  •  COPILOT PAGES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Stop copying Copilot output to Word.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1409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Pages turns chat output into a collaborative document that keeps adapting.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816352"/>
            <a:ext cx="164592" cy="164592"/>
          </a:xfrm>
          <a:prstGeom prst="ellipse">
            <a:avLst/>
          </a:prstGeom>
          <a:solidFill>
            <a:srgbClr val="FAA61A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7" name="Text 5"/>
          <p:cNvSpPr/>
          <p:nvPr/>
        </p:nvSpPr>
        <p:spPr>
          <a:xfrm>
            <a:off x="960120" y="26517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One click: 'Open this in Pages'.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456432"/>
            <a:ext cx="164592" cy="164592"/>
          </a:xfrm>
          <a:prstGeom prst="ellipse">
            <a:avLst/>
          </a:prstGeom>
          <a:solidFill>
            <a:srgbClr val="FAA61A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9" name="Text 7"/>
          <p:cNvSpPr/>
          <p:nvPr/>
        </p:nvSpPr>
        <p:spPr>
          <a:xfrm>
            <a:off x="960120" y="32918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Edit inline. Copilot keeps refining alongside.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4096512"/>
            <a:ext cx="164592" cy="164592"/>
          </a:xfrm>
          <a:prstGeom prst="ellipse">
            <a:avLst/>
          </a:prstGeom>
          <a:solidFill>
            <a:srgbClr val="FAA61A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1" name="Text 9"/>
          <p:cNvSpPr/>
          <p:nvPr/>
        </p:nvSpPr>
        <p:spPr>
          <a:xfrm>
            <a:off x="960120" y="39319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Share a link with the squad. Co-edit in real time.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736592"/>
            <a:ext cx="164592" cy="164592"/>
          </a:xfrm>
          <a:prstGeom prst="ellipse">
            <a:avLst/>
          </a:prstGeom>
          <a:solidFill>
            <a:srgbClr val="FAA61A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3" name="Text 11"/>
          <p:cNvSpPr/>
          <p:nvPr/>
        </p:nvSpPr>
        <p:spPr>
          <a:xfrm>
            <a:off x="960120" y="45720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End of the copy-paste-to-Word cycle.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863840" y="2651760"/>
            <a:ext cx="3657600" cy="2011680"/>
          </a:xfrm>
          <a:prstGeom prst="rect">
            <a:avLst/>
          </a:prstGeom>
          <a:solidFill>
            <a:srgbClr val="050034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5" name="Shape 13"/>
          <p:cNvSpPr/>
          <p:nvPr/>
        </p:nvSpPr>
        <p:spPr>
          <a:xfrm>
            <a:off x="7863840" y="2651760"/>
            <a:ext cx="3657600" cy="411480"/>
          </a:xfrm>
          <a:prstGeom prst="rect">
            <a:avLst/>
          </a:prstGeom>
          <a:solidFill>
            <a:srgbClr val="FAA61A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6" name="Text 14"/>
          <p:cNvSpPr/>
          <p:nvPr/>
        </p:nvSpPr>
        <p:spPr>
          <a:xfrm>
            <a:off x="8092440" y="26517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138160" y="3200400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"Open this draft in Pages and add a section on Q3 risks."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7FB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ING AI Day  •  13 May 2026  •  Wouter van den Bijgaart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789920" y="6492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FB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13 / 22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174910473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14099"/>
          </a:solidFill>
          <a:ln w="12700">
            <a:solidFill>
              <a:srgbClr val="414099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600" dirty="0">
                <a:solidFill>
                  <a:srgbClr val="FAA6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5.4  •  VOICE INPUT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Talk. Copilot listens.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1409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fastest input method most people never try.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816352"/>
            <a:ext cx="164592" cy="164592"/>
          </a:xfrm>
          <a:prstGeom prst="ellipse">
            <a:avLst/>
          </a:prstGeom>
          <a:solidFill>
            <a:srgbClr val="FAA61A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7" name="Text 5"/>
          <p:cNvSpPr/>
          <p:nvPr/>
        </p:nvSpPr>
        <p:spPr>
          <a:xfrm>
            <a:off x="960120" y="26517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Microphone icon in Copilot Chat.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456432"/>
            <a:ext cx="164592" cy="164592"/>
          </a:xfrm>
          <a:prstGeom prst="ellipse">
            <a:avLst/>
          </a:prstGeom>
          <a:solidFill>
            <a:srgbClr val="FAA61A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9" name="Text 7"/>
          <p:cNvSpPr/>
          <p:nvPr/>
        </p:nvSpPr>
        <p:spPr>
          <a:xfrm>
            <a:off x="960120" y="32918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Dictate the goal + task + open vragen out loud.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4096512"/>
            <a:ext cx="164592" cy="164592"/>
          </a:xfrm>
          <a:prstGeom prst="ellipse">
            <a:avLst/>
          </a:prstGeom>
          <a:solidFill>
            <a:srgbClr val="FAA61A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1" name="Text 9"/>
          <p:cNvSpPr/>
          <p:nvPr/>
        </p:nvSpPr>
        <p:spPr>
          <a:xfrm>
            <a:off x="960120" y="39319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Copilot transcribes and executes.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736592"/>
            <a:ext cx="164592" cy="164592"/>
          </a:xfrm>
          <a:prstGeom prst="ellipse">
            <a:avLst/>
          </a:prstGeom>
          <a:solidFill>
            <a:srgbClr val="FAA61A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3" name="Text 11"/>
          <p:cNvSpPr/>
          <p:nvPr/>
        </p:nvSpPr>
        <p:spPr>
          <a:xfrm>
            <a:off x="960120" y="45720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Stretch tool: WisprFlow dictates 3x faster than typing.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5376672"/>
            <a:ext cx="164592" cy="164592"/>
          </a:xfrm>
          <a:prstGeom prst="ellipse">
            <a:avLst/>
          </a:prstGeom>
          <a:solidFill>
            <a:srgbClr val="FAA61A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5" name="Text 13"/>
          <p:cNvSpPr/>
          <p:nvPr/>
        </p:nvSpPr>
        <p:spPr>
          <a:xfrm>
            <a:off x="960120" y="52120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WisprFlow is a separate productivity stack add-on.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863840" y="2651760"/>
            <a:ext cx="3657600" cy="2011680"/>
          </a:xfrm>
          <a:prstGeom prst="rect">
            <a:avLst/>
          </a:prstGeom>
          <a:solidFill>
            <a:srgbClr val="050034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7" name="Shape 15"/>
          <p:cNvSpPr/>
          <p:nvPr/>
        </p:nvSpPr>
        <p:spPr>
          <a:xfrm>
            <a:off x="7863840" y="2651760"/>
            <a:ext cx="3657600" cy="411480"/>
          </a:xfrm>
          <a:prstGeom prst="rect">
            <a:avLst/>
          </a:prstGeom>
          <a:solidFill>
            <a:srgbClr val="FAA61A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8" name="Text 16"/>
          <p:cNvSpPr/>
          <p:nvPr/>
        </p:nvSpPr>
        <p:spPr>
          <a:xfrm>
            <a:off x="8092440" y="26517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138160" y="3200400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Try it: dictate your next email draft instead of typing it.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7FB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ING AI Day  •  13 May 2026  •  Wouter van den Bijgaart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789920" y="6492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FB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14 / 22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97350817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14099"/>
          </a:solidFill>
          <a:ln w="12700">
            <a:solidFill>
              <a:srgbClr val="414099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600" dirty="0">
                <a:solidFill>
                  <a:srgbClr val="FAA6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5.5  •  SCHEDULE PROMPTS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 prompt that runs itself, every Monday.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1409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Tribe rituals automated. Outputs land in Pages while you sleep.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816352"/>
            <a:ext cx="164592" cy="164592"/>
          </a:xfrm>
          <a:prstGeom prst="ellipse">
            <a:avLst/>
          </a:prstGeom>
          <a:solidFill>
            <a:srgbClr val="FAA61A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7" name="Text 5"/>
          <p:cNvSpPr/>
          <p:nvPr/>
        </p:nvSpPr>
        <p:spPr>
          <a:xfrm>
            <a:off x="960120" y="26517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"Every Monday 08:00, summarise last week's customer feedback emails."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456432"/>
            <a:ext cx="164592" cy="164592"/>
          </a:xfrm>
          <a:prstGeom prst="ellipse">
            <a:avLst/>
          </a:prstGeom>
          <a:solidFill>
            <a:srgbClr val="FAA61A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9" name="Text 7"/>
          <p:cNvSpPr/>
          <p:nvPr/>
        </p:nvSpPr>
        <p:spPr>
          <a:xfrm>
            <a:off x="960120" y="32918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Combine with Pages: outputs auto-write into a living doc.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4096512"/>
            <a:ext cx="164592" cy="164592"/>
          </a:xfrm>
          <a:prstGeom prst="ellipse">
            <a:avLst/>
          </a:prstGeom>
          <a:solidFill>
            <a:srgbClr val="FAA61A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1" name="Text 9"/>
          <p:cNvSpPr/>
          <p:nvPr/>
        </p:nvSpPr>
        <p:spPr>
          <a:xfrm>
            <a:off x="960120" y="39319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Use cases: daily team brief, weekly trend monitor, monthly tribe report.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736592"/>
            <a:ext cx="164592" cy="164592"/>
          </a:xfrm>
          <a:prstGeom prst="ellipse">
            <a:avLst/>
          </a:prstGeom>
          <a:solidFill>
            <a:srgbClr val="FAA61A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3" name="Text 11"/>
          <p:cNvSpPr/>
          <p:nvPr/>
        </p:nvSpPr>
        <p:spPr>
          <a:xfrm>
            <a:off x="960120" y="45720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Set the schedule once, retire the recurring chore.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863840" y="2651760"/>
            <a:ext cx="3657600" cy="2011680"/>
          </a:xfrm>
          <a:prstGeom prst="rect">
            <a:avLst/>
          </a:prstGeom>
          <a:solidFill>
            <a:srgbClr val="050034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5" name="Shape 13"/>
          <p:cNvSpPr/>
          <p:nvPr/>
        </p:nvSpPr>
        <p:spPr>
          <a:xfrm>
            <a:off x="7863840" y="2651760"/>
            <a:ext cx="3657600" cy="411480"/>
          </a:xfrm>
          <a:prstGeom prst="rect">
            <a:avLst/>
          </a:prstGeom>
          <a:solidFill>
            <a:srgbClr val="FAA61A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6" name="Text 14"/>
          <p:cNvSpPr/>
          <p:nvPr/>
        </p:nvSpPr>
        <p:spPr>
          <a:xfrm>
            <a:off x="8092440" y="26517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138160" y="3200400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Demo: set up a Monday-morning Channels brief in 60 seconds.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7FB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ING AI Day  •  13 May 2026  •  Wouter van den Bijgaart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789920" y="6492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FB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15 / 22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77348158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14099"/>
          </a:solidFill>
          <a:ln w="12700">
            <a:solidFill>
              <a:srgbClr val="414099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600" dirty="0">
                <a:solidFill>
                  <a:srgbClr val="FAA6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5.6  •  DEEP RESEARCH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Multi-step research, with citations.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1409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Microsoft's pre-built Deep Researcher agent. The closest thing to hiring a junior analyst.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816352"/>
            <a:ext cx="164592" cy="164592"/>
          </a:xfrm>
          <a:prstGeom prst="ellipse">
            <a:avLst/>
          </a:prstGeom>
          <a:solidFill>
            <a:srgbClr val="FAA61A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7" name="Text 5"/>
          <p:cNvSpPr/>
          <p:nvPr/>
        </p:nvSpPr>
        <p:spPr>
          <a:xfrm>
            <a:off x="960120" y="26517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"Build me a competitive analysis on [X] with citations."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456432"/>
            <a:ext cx="164592" cy="164592"/>
          </a:xfrm>
          <a:prstGeom prst="ellipse">
            <a:avLst/>
          </a:prstGeom>
          <a:solidFill>
            <a:srgbClr val="FAA61A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9" name="Text 7"/>
          <p:cNvSpPr/>
          <p:nvPr/>
        </p:nvSpPr>
        <p:spPr>
          <a:xfrm>
            <a:off x="960120" y="32918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Multi-step web research, structured report back.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4096512"/>
            <a:ext cx="164592" cy="164592"/>
          </a:xfrm>
          <a:prstGeom prst="ellipse">
            <a:avLst/>
          </a:prstGeom>
          <a:solidFill>
            <a:srgbClr val="FAA61A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1" name="Text 9"/>
          <p:cNvSpPr/>
          <p:nvPr/>
        </p:nvSpPr>
        <p:spPr>
          <a:xfrm>
            <a:off x="960120" y="39319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Slow: minutes, not seconds. Plan for the wait.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736592"/>
            <a:ext cx="164592" cy="164592"/>
          </a:xfrm>
          <a:prstGeom prst="ellipse">
            <a:avLst/>
          </a:prstGeom>
          <a:solidFill>
            <a:srgbClr val="FAA61A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3" name="Text 11"/>
          <p:cNvSpPr/>
          <p:nvPr/>
        </p:nvSpPr>
        <p:spPr>
          <a:xfrm>
            <a:off x="960120" y="45720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Pro move: kick it off before a break, return to the result with the room.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863840" y="2651760"/>
            <a:ext cx="3657600" cy="2011680"/>
          </a:xfrm>
          <a:prstGeom prst="rect">
            <a:avLst/>
          </a:prstGeom>
          <a:solidFill>
            <a:srgbClr val="050034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5" name="Shape 13"/>
          <p:cNvSpPr/>
          <p:nvPr/>
        </p:nvSpPr>
        <p:spPr>
          <a:xfrm>
            <a:off x="7863840" y="2651760"/>
            <a:ext cx="3657600" cy="411480"/>
          </a:xfrm>
          <a:prstGeom prst="rect">
            <a:avLst/>
          </a:prstGeom>
          <a:solidFill>
            <a:srgbClr val="FAA61A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6" name="Text 14"/>
          <p:cNvSpPr/>
          <p:nvPr/>
        </p:nvSpPr>
        <p:spPr>
          <a:xfrm>
            <a:off x="8092440" y="26517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138160" y="3200400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Today: trigger one before the 11:00 break. We read it together after.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7FB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ING AI Day  •  13 May 2026  •  Wouter van den Bijgaart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789920" y="6492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FB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16 / 22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76344319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83FBC2ED-5EA6-2F6E-AA70-BB65D93BF6C7}"/>
              </a:ext>
            </a:extLst>
          </p:cNvPr>
          <p:cNvSpPr/>
          <p:nvPr/>
        </p:nvSpPr>
        <p:spPr>
          <a:xfrm>
            <a:off x="9235440" y="594360"/>
            <a:ext cx="2377440" cy="914400"/>
          </a:xfrm>
          <a:prstGeom prst="rect">
            <a:avLst/>
          </a:prstGeom>
          <a:solidFill>
            <a:srgbClr val="0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14099"/>
          </a:solidFill>
          <a:ln w="12700">
            <a:solidFill>
              <a:srgbClr val="414099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600" dirty="0">
                <a:solidFill>
                  <a:srgbClr val="FAA6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ACT 6  •  BUILD YOUR AI-COLLEGUE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One named agent. Ready to use.</a:t>
            </a:r>
          </a:p>
          <a:p>
            <a:pPr marL="0" indent="0" algn="l">
              <a:buNone/>
            </a:pPr>
            <a:r>
              <a:rPr lang="en-US" sz="2800" dirty="0">
                <a:solidFill>
                  <a:srgbClr val="050034"/>
                </a:solidFill>
                <a:latin typeface="Nunito" pitchFamily="34" charset="0"/>
              </a:rPr>
              <a:t>… or 3+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611880" cy="1691640"/>
          </a:xfrm>
          <a:prstGeom prst="rect">
            <a:avLst/>
          </a:prstGeom>
          <a:solidFill>
            <a:srgbClr val="F1F2F2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6" name="Shape 4"/>
          <p:cNvSpPr/>
          <p:nvPr/>
        </p:nvSpPr>
        <p:spPr>
          <a:xfrm>
            <a:off x="777240" y="2057400"/>
            <a:ext cx="548640" cy="548640"/>
          </a:xfrm>
          <a:prstGeom prst="ellipse">
            <a:avLst/>
          </a:prstGeom>
          <a:solidFill>
            <a:srgbClr val="414099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7" name="Text 5"/>
          <p:cNvSpPr/>
          <p:nvPr/>
        </p:nvSpPr>
        <p:spPr>
          <a:xfrm>
            <a:off x="77724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63040" y="21031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Pick a task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7432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20+ min, weekly, that you'd teach a junior.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0" y="1828800"/>
            <a:ext cx="3611880" cy="1691640"/>
          </a:xfrm>
          <a:prstGeom prst="rect">
            <a:avLst/>
          </a:prstGeom>
          <a:solidFill>
            <a:srgbClr val="F1F2F2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1" name="Shape 9"/>
          <p:cNvSpPr/>
          <p:nvPr/>
        </p:nvSpPr>
        <p:spPr>
          <a:xfrm>
            <a:off x="4617720" y="2057400"/>
            <a:ext cx="548640" cy="548640"/>
          </a:xfrm>
          <a:prstGeom prst="ellipse">
            <a:avLst/>
          </a:prstGeom>
          <a:solidFill>
            <a:srgbClr val="414099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2" name="Text 10"/>
          <p:cNvSpPr/>
          <p:nvPr/>
        </p:nvSpPr>
        <p:spPr>
          <a:xfrm>
            <a:off x="461772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303520" y="21031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Name with alliteration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63440" y="27432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Bram the Brief-builder. Lara the Lead-qualifier.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0" y="1828800"/>
            <a:ext cx="3611880" cy="1691640"/>
          </a:xfrm>
          <a:prstGeom prst="rect">
            <a:avLst/>
          </a:prstGeom>
          <a:solidFill>
            <a:srgbClr val="F1F2F2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6" name="Shape 14"/>
          <p:cNvSpPr/>
          <p:nvPr/>
        </p:nvSpPr>
        <p:spPr>
          <a:xfrm>
            <a:off x="8458200" y="2057400"/>
            <a:ext cx="548640" cy="548640"/>
          </a:xfrm>
          <a:prstGeom prst="ellipse">
            <a:avLst/>
          </a:prstGeom>
          <a:solidFill>
            <a:srgbClr val="414099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7" name="Text 15"/>
          <p:cNvSpPr/>
          <p:nvPr/>
        </p:nvSpPr>
        <p:spPr>
          <a:xfrm>
            <a:off x="845820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144000" y="21031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New agent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503920" y="27432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Copilot Chat → New agent.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703320"/>
            <a:ext cx="3611880" cy="1691640"/>
          </a:xfrm>
          <a:prstGeom prst="rect">
            <a:avLst/>
          </a:prstGeom>
          <a:solidFill>
            <a:srgbClr val="F1F2F2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21" name="Shape 19"/>
          <p:cNvSpPr/>
          <p:nvPr/>
        </p:nvSpPr>
        <p:spPr>
          <a:xfrm>
            <a:off x="777240" y="3931920"/>
            <a:ext cx="548640" cy="548640"/>
          </a:xfrm>
          <a:prstGeom prst="ellipse">
            <a:avLst/>
          </a:prstGeom>
          <a:solidFill>
            <a:srgbClr val="414099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22" name="Text 20"/>
          <p:cNvSpPr/>
          <p:nvPr/>
        </p:nvSpPr>
        <p:spPr>
          <a:xfrm>
            <a:off x="777240" y="3931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463040" y="39776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Custom Instructions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22960" y="461772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Role · Tone · Rules · Opening behavior.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389120" y="3703320"/>
            <a:ext cx="3611880" cy="1691640"/>
          </a:xfrm>
          <a:prstGeom prst="rect">
            <a:avLst/>
          </a:prstGeom>
          <a:solidFill>
            <a:srgbClr val="F1F2F2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26" name="Shape 24"/>
          <p:cNvSpPr/>
          <p:nvPr/>
        </p:nvSpPr>
        <p:spPr>
          <a:xfrm>
            <a:off x="4617720" y="3931920"/>
            <a:ext cx="548640" cy="548640"/>
          </a:xfrm>
          <a:prstGeom prst="ellipse">
            <a:avLst/>
          </a:prstGeom>
          <a:solidFill>
            <a:srgbClr val="414099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27" name="Text 25"/>
          <p:cNvSpPr/>
          <p:nvPr/>
        </p:nvSpPr>
        <p:spPr>
          <a:xfrm>
            <a:off x="4617720" y="3931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303520" y="39776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Knowledge files / folders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663440" y="461772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 to 6 items from OneDrive or SharePoint.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229600" y="3703320"/>
            <a:ext cx="3611880" cy="1691640"/>
          </a:xfrm>
          <a:prstGeom prst="rect">
            <a:avLst/>
          </a:prstGeom>
          <a:solidFill>
            <a:srgbClr val="F1F2F2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1" name="Shape 29"/>
          <p:cNvSpPr/>
          <p:nvPr/>
        </p:nvSpPr>
        <p:spPr>
          <a:xfrm>
            <a:off x="8458200" y="3931920"/>
            <a:ext cx="548640" cy="548640"/>
          </a:xfrm>
          <a:prstGeom prst="ellipse">
            <a:avLst/>
          </a:prstGeom>
          <a:solidFill>
            <a:srgbClr val="414099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2" name="Text 30"/>
          <p:cNvSpPr/>
          <p:nvPr/>
        </p:nvSpPr>
        <p:spPr>
          <a:xfrm>
            <a:off x="8458200" y="3931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6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9144000" y="39776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Test, fail, iterate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503920" y="461772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Three test prompts. Fix where it breaks.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48640" y="5623560"/>
            <a:ext cx="10881360" cy="502920"/>
          </a:xfrm>
          <a:prstGeom prst="rect">
            <a:avLst/>
          </a:prstGeom>
          <a:solidFill>
            <a:srgbClr val="FAA61A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6" name="Text 34"/>
          <p:cNvSpPr/>
          <p:nvPr/>
        </p:nvSpPr>
        <p:spPr>
          <a:xfrm>
            <a:off x="777240" y="562356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Hard stop at minute 30: agents in their current shape are good enough. Stop polishing, start using.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4864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7FB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ING AI Day  •  13 May 2026  •  Wouter van den Bijgaart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789920" y="6492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FB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17 / 22</a:t>
            </a:r>
            <a:endParaRPr lang="en-US" sz="9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945C093-4079-29C7-D0E9-3F4E510A2B0C}"/>
              </a:ext>
            </a:extLst>
          </p:cNvPr>
          <p:cNvSpPr txBox="1"/>
          <p:nvPr/>
        </p:nvSpPr>
        <p:spPr>
          <a:xfrm>
            <a:off x="9235440" y="735866"/>
            <a:ext cx="2377440" cy="6771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nl-NL" sz="4400" b="1" i="0" dirty="0">
                <a:solidFill>
                  <a:srgbClr val="FAA61A"/>
                </a:solidFill>
                <a:latin typeface="Nunito"/>
              </a:rPr>
              <a:t>3</a:t>
            </a:r>
            <a:r>
              <a:rPr sz="4400" b="1" i="0" dirty="0">
                <a:solidFill>
                  <a:srgbClr val="FAA61A"/>
                </a:solidFill>
                <a:latin typeface="Nunito"/>
              </a:rPr>
              <a:t>0 MIN</a:t>
            </a:r>
          </a:p>
        </p:txBody>
      </p:sp>
    </p:spTree>
    <p:extLst>
      <p:ext uri="{BB962C8B-B14F-4D97-AF65-F5344CB8AC3E}">
        <p14:creationId xmlns:p14="http://schemas.microsoft.com/office/powerpoint/2010/main" val="241163262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14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FAA61A"/>
                </a:solidFill>
                <a:latin typeface="Nunito"/>
              </a:rPr>
              <a:t>SHARE WHAT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>
                <a:solidFill>
                  <a:srgbClr val="050034"/>
                </a:solidFill>
                <a:latin typeface="Nunito"/>
              </a:rPr>
              <a:t>Smarter together. The tribe's second brain.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FAA61A"/>
                </a:solidFill>
                <a:latin typeface="Nunito"/>
              </a:rPr>
              <a:t>WHY SHARE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468879"/>
            <a:ext cx="91440" cy="411480"/>
          </a:xfrm>
          <a:prstGeom prst="rect">
            <a:avLst/>
          </a:prstGeom>
          <a:solidFill>
            <a:srgbClr val="414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2331720"/>
            <a:ext cx="502920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dirty="0">
                <a:solidFill>
                  <a:srgbClr val="050034"/>
                </a:solidFill>
                <a:latin typeface="Nunito"/>
              </a:rPr>
              <a:t>What works for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74320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>
                <a:solidFill>
                  <a:srgbClr val="050034"/>
                </a:solidFill>
                <a:latin typeface="Nunito"/>
              </a:rPr>
              <a:t>probably works for your tribe.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246120"/>
            <a:ext cx="91440" cy="411480"/>
          </a:xfrm>
          <a:prstGeom prst="rect">
            <a:avLst/>
          </a:prstGeom>
          <a:solidFill>
            <a:srgbClr val="414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59" y="3108960"/>
            <a:ext cx="5029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50034"/>
                </a:solidFill>
                <a:latin typeface="Nunito"/>
              </a:rPr>
              <a:t>Avoid duplicate 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52044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>
                <a:solidFill>
                  <a:srgbClr val="050034"/>
                </a:solidFill>
                <a:latin typeface="Nunito"/>
              </a:rPr>
              <a:t>don't hire the same specialist twice.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023360"/>
            <a:ext cx="91440" cy="411480"/>
          </a:xfrm>
          <a:prstGeom prst="rect">
            <a:avLst/>
          </a:prstGeom>
          <a:solidFill>
            <a:srgbClr val="414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59" y="3886200"/>
            <a:ext cx="5029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50034"/>
                </a:solidFill>
                <a:latin typeface="Nunito"/>
              </a:rPr>
              <a:t>Beat shadow 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429768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>
                <a:solidFill>
                  <a:srgbClr val="050034"/>
                </a:solidFill>
                <a:latin typeface="Nunito"/>
              </a:rPr>
              <a:t>agents in the open are safer than agents in the dark.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800600"/>
            <a:ext cx="91440" cy="411480"/>
          </a:xfrm>
          <a:prstGeom prst="rect">
            <a:avLst/>
          </a:prstGeom>
          <a:solidFill>
            <a:srgbClr val="414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59" y="4663440"/>
            <a:ext cx="5029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50034"/>
                </a:solidFill>
                <a:latin typeface="Nunito"/>
              </a:rPr>
              <a:t>Compound learning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507492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>
                <a:solidFill>
                  <a:srgbClr val="050034"/>
                </a:solidFill>
                <a:latin typeface="Nunito"/>
              </a:rPr>
              <a:t>a tribe of curious users is your fastest path.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92024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FAA61A"/>
                </a:solidFill>
                <a:latin typeface="Nunito"/>
              </a:rPr>
              <a:t>WHAT LIVES THERE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2377439"/>
            <a:ext cx="548640" cy="548640"/>
          </a:xfrm>
          <a:prstGeom prst="rect">
            <a:avLst/>
          </a:prstGeom>
          <a:solidFill>
            <a:srgbClr val="414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0" y="2377439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Nunito"/>
              </a:rPr>
              <a:t>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2331720"/>
            <a:ext cx="44805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50034"/>
                </a:solidFill>
                <a:latin typeface="Nunito"/>
              </a:rPr>
              <a:t>Prompts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2697479"/>
            <a:ext cx="44805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>
                <a:solidFill>
                  <a:srgbClr val="050034"/>
                </a:solidFill>
                <a:latin typeface="Nunito"/>
              </a:rPr>
              <a:t>that produced real outputs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3154679"/>
            <a:ext cx="548640" cy="548640"/>
          </a:xfrm>
          <a:prstGeom prst="rect">
            <a:avLst/>
          </a:prstGeom>
          <a:solidFill>
            <a:srgbClr val="414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0" y="3154679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Nunito"/>
              </a:rPr>
              <a:t>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3108960"/>
            <a:ext cx="44805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50034"/>
                </a:solidFill>
                <a:latin typeface="Nunito"/>
              </a:rPr>
              <a:t>Agents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3474720"/>
            <a:ext cx="448056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 dirty="0">
                <a:solidFill>
                  <a:srgbClr val="050034"/>
                </a:solidFill>
                <a:latin typeface="Nunito"/>
              </a:rPr>
              <a:t>Custom Instruction</a:t>
            </a:r>
            <a:r>
              <a:rPr lang="nl-NL" sz="1200" b="0" i="1" dirty="0">
                <a:solidFill>
                  <a:srgbClr val="050034"/>
                </a:solidFill>
                <a:latin typeface="Nunito"/>
              </a:rPr>
              <a:t> (templates)</a:t>
            </a:r>
            <a:r>
              <a:rPr sz="1200" b="0" i="1" dirty="0">
                <a:solidFill>
                  <a:srgbClr val="050034"/>
                </a:solidFill>
                <a:latin typeface="Nunito"/>
              </a:rPr>
              <a:t> to</a:t>
            </a:r>
            <a:r>
              <a:rPr lang="nl-NL" sz="1200" b="0" i="1" dirty="0">
                <a:solidFill>
                  <a:srgbClr val="050034"/>
                </a:solidFill>
                <a:latin typeface="Nunito"/>
              </a:rPr>
              <a:t> </a:t>
            </a:r>
            <a:r>
              <a:rPr lang="nl-NL" sz="1200" b="0" i="1" dirty="0" err="1">
                <a:solidFill>
                  <a:srgbClr val="050034"/>
                </a:solidFill>
                <a:latin typeface="Nunito"/>
              </a:rPr>
              <a:t>clone</a:t>
            </a:r>
            <a:endParaRPr sz="1200" b="0" i="1" dirty="0">
              <a:solidFill>
                <a:srgbClr val="050034"/>
              </a:solidFill>
              <a:latin typeface="Nunito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400800" y="3931920"/>
            <a:ext cx="548640" cy="548640"/>
          </a:xfrm>
          <a:prstGeom prst="rect">
            <a:avLst/>
          </a:prstGeom>
          <a:solidFill>
            <a:srgbClr val="414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0" y="393192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Nunito"/>
              </a:rPr>
              <a:t>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3886200"/>
            <a:ext cx="44805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50034"/>
                </a:solidFill>
                <a:latin typeface="Nunito"/>
              </a:rPr>
              <a:t>Knowledge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4251960"/>
            <a:ext cx="448056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 dirty="0">
                <a:solidFill>
                  <a:srgbClr val="050034"/>
                </a:solidFill>
                <a:latin typeface="Nunito"/>
              </a:rPr>
              <a:t>context files, links, references</a:t>
            </a:r>
            <a:r>
              <a:rPr lang="nl-NL" sz="1200" b="0" i="1" dirty="0">
                <a:solidFill>
                  <a:srgbClr val="050034"/>
                </a:solidFill>
                <a:latin typeface="Nunito"/>
              </a:rPr>
              <a:t>, </a:t>
            </a:r>
            <a:r>
              <a:rPr lang="nl-NL" sz="1200" b="0" i="1" dirty="0" err="1">
                <a:solidFill>
                  <a:srgbClr val="050034"/>
                </a:solidFill>
                <a:latin typeface="Nunito"/>
              </a:rPr>
              <a:t>SOP’s</a:t>
            </a:r>
            <a:r>
              <a:rPr lang="nl-NL" sz="1200" b="0" i="1" dirty="0">
                <a:solidFill>
                  <a:srgbClr val="050034"/>
                </a:solidFill>
                <a:latin typeface="Nunito"/>
              </a:rPr>
              <a:t>, best </a:t>
            </a:r>
            <a:r>
              <a:rPr lang="nl-NL" sz="1200" b="0" i="1" dirty="0" err="1">
                <a:solidFill>
                  <a:srgbClr val="050034"/>
                </a:solidFill>
                <a:latin typeface="Nunito"/>
              </a:rPr>
              <a:t>practices</a:t>
            </a:r>
            <a:endParaRPr sz="1200" b="0" i="1" dirty="0">
              <a:solidFill>
                <a:srgbClr val="050034"/>
              </a:solidFill>
              <a:latin typeface="Nunito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6400800" y="4709159"/>
            <a:ext cx="548640" cy="548640"/>
          </a:xfrm>
          <a:prstGeom prst="rect">
            <a:avLst/>
          </a:prstGeom>
          <a:solidFill>
            <a:srgbClr val="414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0" y="4709159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Nunito"/>
              </a:rPr>
              <a:t>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4663440"/>
            <a:ext cx="44805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50034"/>
                </a:solidFill>
                <a:latin typeface="Nunito"/>
              </a:rPr>
              <a:t>Examples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0" y="5029200"/>
            <a:ext cx="44805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>
                <a:solidFill>
                  <a:srgbClr val="050034"/>
                </a:solidFill>
                <a:latin typeface="Nunito"/>
              </a:rPr>
              <a:t>concrete outputs worth copying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806440"/>
            <a:ext cx="10881360" cy="502920"/>
          </a:xfrm>
          <a:prstGeom prst="rect">
            <a:avLst/>
          </a:prstGeom>
          <a:solidFill>
            <a:srgbClr val="FAA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77240" y="5806440"/>
            <a:ext cx="104241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1">
                <a:solidFill>
                  <a:srgbClr val="050034"/>
                </a:solidFill>
                <a:latin typeface="Nunito"/>
              </a:rPr>
              <a:t>Share your agents. The room that shares fastest, learns fastest.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9224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7A7FBD"/>
                </a:solidFill>
                <a:latin typeface="Nunito"/>
              </a:rPr>
              <a:t>ING AI Day  •  13 May 2026  •  Wouter van den Bijgaart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89920" y="6537290"/>
            <a:ext cx="91440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7A7FB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19 / 23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160343548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8" grpId="0"/>
      <p:bldP spid="9" grpId="0"/>
      <p:bldP spid="10" grpId="0" animBg="1"/>
      <p:bldP spid="11" grpId="0"/>
      <p:bldP spid="12" grpId="0"/>
      <p:bldP spid="13" grpId="0" animBg="1"/>
      <p:bldP spid="14" grpId="0"/>
      <p:bldP spid="15" grpId="0"/>
      <p:bldP spid="16" grpId="0" animBg="1"/>
      <p:bldP spid="17" grpId="0"/>
      <p:bldP spid="18" grpId="0"/>
      <p:bldP spid="19" grpId="0"/>
      <p:bldP spid="20" grpId="0" animBg="1"/>
      <p:bldP spid="21" grpId="0"/>
      <p:bldP spid="22" grpId="0"/>
      <p:bldP spid="23" grpId="0"/>
      <p:bldP spid="24" grpId="0" animBg="1"/>
      <p:bldP spid="25" grpId="0"/>
      <p:bldP spid="26" grpId="0"/>
      <p:bldP spid="27" grpId="0"/>
      <p:bldP spid="28" grpId="0" animBg="1"/>
      <p:bldP spid="29" grpId="0"/>
      <p:bldP spid="30" grpId="0"/>
      <p:bldP spid="31" grpId="0"/>
      <p:bldP spid="32" grpId="0" animBg="1"/>
      <p:bldP spid="33" grpId="0"/>
      <p:bldP spid="34" grpId="0"/>
      <p:bldP spid="3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37160"/>
            <a:ext cx="1216152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14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FAA61A"/>
                </a:solidFill>
                <a:latin typeface="Nunito"/>
              </a:rPr>
              <a:t>MAKE IT FINDABLE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050034"/>
                </a:solidFill>
                <a:latin typeface="Nunito"/>
              </a:rPr>
              <a:t>A SharePoint structure that actually gets used.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6400800" cy="4114800"/>
          </a:xfrm>
          <a:prstGeom prst="rect">
            <a:avLst/>
          </a:prstGeom>
          <a:solidFill>
            <a:srgbClr val="0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6400800" cy="411480"/>
          </a:xfrm>
          <a:prstGeom prst="rect">
            <a:avLst/>
          </a:prstGeom>
          <a:solidFill>
            <a:srgbClr val="414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59436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 spc="300">
                <a:solidFill>
                  <a:srgbClr val="FFFFFF"/>
                </a:solidFill>
                <a:latin typeface="Nunito"/>
              </a:rPr>
              <a:t>ING · Channels-tribe · AI Library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377440"/>
            <a:ext cx="5852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dirty="0">
                <a:solidFill>
                  <a:srgbClr val="FAA61A"/>
                </a:solidFill>
                <a:latin typeface="Consolas"/>
              </a:rPr>
              <a:t>01_Prompts/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633472"/>
            <a:ext cx="5852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dirty="0">
                <a:solidFill>
                  <a:srgbClr val="FFFFFF"/>
                </a:solidFill>
                <a:latin typeface="Consolas"/>
              </a:rPr>
              <a:t>    customer-email-drafts/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889504"/>
            <a:ext cx="5852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dirty="0">
                <a:solidFill>
                  <a:srgbClr val="FFFFFF"/>
                </a:solidFill>
                <a:latin typeface="Consolas"/>
              </a:rPr>
              <a:t>    stakeholder-updates/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145536"/>
            <a:ext cx="5852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dirty="0">
                <a:solidFill>
                  <a:srgbClr val="FFFFFF"/>
                </a:solidFill>
                <a:latin typeface="Consolas"/>
              </a:rPr>
              <a:t>    Q-review-summaries/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3401568"/>
            <a:ext cx="5852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dirty="0">
                <a:solidFill>
                  <a:srgbClr val="FFFFFF"/>
                </a:solidFill>
                <a:latin typeface="Consolas"/>
              </a:rPr>
              <a:t>    compliance-checks/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3657600"/>
            <a:ext cx="5852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dirty="0">
                <a:solidFill>
                  <a:srgbClr val="FAA61A"/>
                </a:solidFill>
                <a:latin typeface="Consolas"/>
              </a:rPr>
              <a:t>02_Agents/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3913632"/>
            <a:ext cx="5852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dirty="0">
                <a:solidFill>
                  <a:srgbClr val="FFFFFF"/>
                </a:solidFill>
                <a:latin typeface="Consolas"/>
              </a:rPr>
              <a:t>    </a:t>
            </a:r>
            <a:r>
              <a:rPr sz="1200" b="0" i="0" dirty="0" err="1">
                <a:solidFill>
                  <a:srgbClr val="FFFFFF"/>
                </a:solidFill>
                <a:latin typeface="Consolas"/>
              </a:rPr>
              <a:t>bram</a:t>
            </a:r>
            <a:r>
              <a:rPr sz="1200" b="0" i="0" dirty="0">
                <a:solidFill>
                  <a:srgbClr val="FFFFFF"/>
                </a:solidFill>
                <a:latin typeface="Consolas"/>
              </a:rPr>
              <a:t>-the-brief-builder/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4169664"/>
            <a:ext cx="5852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dirty="0">
                <a:solidFill>
                  <a:srgbClr val="FFFFFF"/>
                </a:solidFill>
                <a:latin typeface="Consolas"/>
              </a:rPr>
              <a:t>    </a:t>
            </a:r>
            <a:r>
              <a:rPr sz="1200" b="0" i="0" dirty="0" err="1">
                <a:solidFill>
                  <a:srgbClr val="FFFFFF"/>
                </a:solidFill>
                <a:latin typeface="Consolas"/>
              </a:rPr>
              <a:t>lara</a:t>
            </a:r>
            <a:r>
              <a:rPr sz="1200" b="0" i="0" dirty="0">
                <a:solidFill>
                  <a:srgbClr val="FFFFFF"/>
                </a:solidFill>
                <a:latin typeface="Consolas"/>
              </a:rPr>
              <a:t>-the-lead-qualifier/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4425696"/>
            <a:ext cx="5852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dirty="0">
                <a:solidFill>
                  <a:srgbClr val="8ED8F8"/>
                </a:solidFill>
                <a:latin typeface="Consolas"/>
              </a:rPr>
              <a:t>    _template/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4681728"/>
            <a:ext cx="5852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dirty="0">
                <a:solidFill>
                  <a:srgbClr val="FAA61A"/>
                </a:solidFill>
                <a:latin typeface="Consolas"/>
              </a:rPr>
              <a:t>03_Knowledge/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4937760"/>
            <a:ext cx="5852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dirty="0">
                <a:solidFill>
                  <a:srgbClr val="FFFFFF"/>
                </a:solidFill>
                <a:latin typeface="Consolas"/>
              </a:rPr>
              <a:t>    product-docs/  ·  tribe-OKRs/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5193792"/>
            <a:ext cx="5852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dirty="0">
                <a:solidFill>
                  <a:srgbClr val="FFFFFF"/>
                </a:solidFill>
                <a:latin typeface="Consolas"/>
              </a:rPr>
              <a:t>    brand-guidelines/  ·  compliance-refs/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" y="5449824"/>
            <a:ext cx="5852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dirty="0">
                <a:solidFill>
                  <a:srgbClr val="FAA61A"/>
                </a:solidFill>
                <a:latin typeface="Consolas"/>
              </a:rPr>
              <a:t>04_Examples/   ·   05_Quick-tips/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1828800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FAA61A"/>
                </a:solidFill>
                <a:latin typeface="Nunito"/>
              </a:rPr>
              <a:t>OPERATING RULES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0" y="2331720"/>
            <a:ext cx="4297680" cy="1051560"/>
          </a:xfrm>
          <a:prstGeom prst="rect">
            <a:avLst/>
          </a:prstGeom>
          <a:solidFill>
            <a:srgbClr val="F1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498079" y="2441448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AA61A"/>
                </a:solidFill>
                <a:latin typeface="Nunito"/>
              </a:rPr>
              <a:t>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2441448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dirty="0">
                <a:solidFill>
                  <a:srgbClr val="050034"/>
                </a:solidFill>
                <a:latin typeface="Nunito"/>
              </a:rPr>
              <a:t>Pin as a Teams tab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2834639"/>
            <a:ext cx="3931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050034"/>
                </a:solidFill>
                <a:latin typeface="Nunito"/>
              </a:rPr>
              <a:t>One click from the tribe channel. If it isn't pinned, it doesn't exist.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0" y="3520439"/>
            <a:ext cx="4297680" cy="1051560"/>
          </a:xfrm>
          <a:prstGeom prst="rect">
            <a:avLst/>
          </a:prstGeom>
          <a:solidFill>
            <a:srgbClr val="F1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498079" y="3630168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AA61A"/>
                </a:solidFill>
                <a:latin typeface="Nunito"/>
              </a:rP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3630168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50034"/>
                </a:solidFill>
                <a:latin typeface="Nunito"/>
              </a:rPr>
              <a:t>One owner, many contributors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4023359"/>
            <a:ext cx="3931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 dirty="0">
                <a:solidFill>
                  <a:srgbClr val="050034"/>
                </a:solidFill>
                <a:latin typeface="Nunito"/>
              </a:rPr>
              <a:t>Assign a curator per tribe. Without an owner, the library rots.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0" y="4709160"/>
            <a:ext cx="4297680" cy="1051560"/>
          </a:xfrm>
          <a:prstGeom prst="rect">
            <a:avLst/>
          </a:prstGeom>
          <a:solidFill>
            <a:srgbClr val="F1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498079" y="4818888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AA61A"/>
                </a:solidFill>
                <a:latin typeface="Nunito"/>
              </a:rP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0" y="4818888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50034"/>
                </a:solidFill>
                <a:latin typeface="Nunito"/>
              </a:rPr>
              <a:t>Review monthly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9" y="5212080"/>
            <a:ext cx="3931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050034"/>
                </a:solidFill>
                <a:latin typeface="Nunito"/>
              </a:rPr>
              <a:t>15 minutes in stand-up: what's new, what to retire.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5806440"/>
            <a:ext cx="10881360" cy="502920"/>
          </a:xfrm>
          <a:prstGeom prst="rect">
            <a:avLst/>
          </a:prstGeom>
          <a:solidFill>
            <a:srgbClr val="FAA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77240" y="5806440"/>
            <a:ext cx="104241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1" dirty="0">
                <a:solidFill>
                  <a:srgbClr val="050034"/>
                </a:solidFill>
                <a:latin typeface="Nunito"/>
              </a:rPr>
              <a:t>Swap 'Channels' for your tribe name. Ship it Monday.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9224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7A7FBD"/>
                </a:solidFill>
                <a:latin typeface="Nunito"/>
              </a:rPr>
              <a:t>ING AI Day  •  13 May 2026  •  Wouter van den Bijgaart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89920" y="6537290"/>
            <a:ext cx="91440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7A7FB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20 / 23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504092827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 animBg="1"/>
      <p:bldP spid="24" grpId="0"/>
      <p:bldP spid="25" grpId="0"/>
      <p:bldP spid="26" grpId="0"/>
      <p:bldP spid="27" grpId="0" animBg="1"/>
      <p:bldP spid="28" grpId="0"/>
      <p:bldP spid="29" grpId="0"/>
      <p:bldP spid="30" grpId="0"/>
      <p:bldP spid="31" grpId="0" animBg="1"/>
      <p:bldP spid="32" grpId="0"/>
      <p:bldP spid="33" grpId="0"/>
      <p:bldP spid="3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14099"/>
          </a:solidFill>
          <a:ln w="12700">
            <a:solidFill>
              <a:srgbClr val="414099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600" dirty="0">
                <a:solidFill>
                  <a:srgbClr val="FAA6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ACT 7  •  KEEP THE WONDER ALIVE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Three habits to keep the momentum.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505200" cy="3566160"/>
          </a:xfrm>
          <a:prstGeom prst="rect">
            <a:avLst/>
          </a:prstGeom>
          <a:solidFill>
            <a:srgbClr val="FFFFFF"/>
          </a:solidFill>
          <a:ln w="19050">
            <a:solidFill>
              <a:srgbClr val="414099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3505200" cy="640080"/>
          </a:xfrm>
          <a:prstGeom prst="rect">
            <a:avLst/>
          </a:prstGeom>
          <a:solidFill>
            <a:srgbClr val="414099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7" name="Text 5"/>
          <p:cNvSpPr/>
          <p:nvPr/>
        </p:nvSpPr>
        <p:spPr>
          <a:xfrm>
            <a:off x="822960" y="21945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AA6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3017520"/>
            <a:ext cx="295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Share successes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3657600"/>
            <a:ext cx="2956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When a prompt or agent works well, drop it in the AI-bibliotheek on Teams.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4937760"/>
            <a:ext cx="295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7FB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Prompts that worked  ·  Custom Instructions to copy  ·  Concrete output examples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28160" y="2194560"/>
            <a:ext cx="3505200" cy="3566160"/>
          </a:xfrm>
          <a:prstGeom prst="rect">
            <a:avLst/>
          </a:prstGeom>
          <a:solidFill>
            <a:srgbClr val="FFFFFF"/>
          </a:solidFill>
          <a:ln w="19050">
            <a:solidFill>
              <a:srgbClr val="414099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2" name="Shape 10"/>
          <p:cNvSpPr/>
          <p:nvPr/>
        </p:nvSpPr>
        <p:spPr>
          <a:xfrm>
            <a:off x="4328160" y="2194560"/>
            <a:ext cx="3505200" cy="640080"/>
          </a:xfrm>
          <a:prstGeom prst="rect">
            <a:avLst/>
          </a:prstGeom>
          <a:solidFill>
            <a:srgbClr val="414099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3" name="Text 11"/>
          <p:cNvSpPr/>
          <p:nvPr/>
        </p:nvSpPr>
        <p:spPr>
          <a:xfrm>
            <a:off x="4602480" y="21945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AA6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602480" y="3017520"/>
            <a:ext cx="295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Monthly AI-moment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602480" y="3657600"/>
            <a:ext cx="2956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15 minutes in the tribe stand-up. One question: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02480" y="4937760"/>
            <a:ext cx="295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7FB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"What did you discover this month?"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07680" y="2194560"/>
            <a:ext cx="3505200" cy="3566160"/>
          </a:xfrm>
          <a:prstGeom prst="rect">
            <a:avLst/>
          </a:prstGeom>
          <a:solidFill>
            <a:srgbClr val="FFFFFF"/>
          </a:solidFill>
          <a:ln w="19050">
            <a:solidFill>
              <a:srgbClr val="414099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8" name="Shape 16"/>
          <p:cNvSpPr/>
          <p:nvPr/>
        </p:nvSpPr>
        <p:spPr>
          <a:xfrm>
            <a:off x="8107680" y="2194560"/>
            <a:ext cx="3505200" cy="640080"/>
          </a:xfrm>
          <a:prstGeom prst="rect">
            <a:avLst/>
          </a:prstGeom>
          <a:solidFill>
            <a:srgbClr val="414099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9" name="Text 17"/>
          <p:cNvSpPr/>
          <p:nvPr/>
        </p:nvSpPr>
        <p:spPr>
          <a:xfrm>
            <a:off x="8382000" y="21945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AA6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382000" y="3017520"/>
            <a:ext cx="295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Experiment &amp; have fun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382000" y="3657600"/>
            <a:ext cx="2956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Not everything works first try. The best discoveries come from trying.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382000" y="4937760"/>
            <a:ext cx="295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7FB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Pin the AI-bibliotheek as a tab in Teams. Make it easy to add to.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7FB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ING AI Day  •  13 May 2026  •  Wouter van den Bijgaart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789920" y="6492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FB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20 / 22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4130968594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14099"/>
          </a:solidFill>
          <a:ln w="12700">
            <a:solidFill>
              <a:srgbClr val="414099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600" dirty="0">
                <a:solidFill>
                  <a:srgbClr val="FAA6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RECAP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What you take home today.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984248"/>
            <a:ext cx="457200" cy="457200"/>
          </a:xfrm>
          <a:prstGeom prst="ellipse">
            <a:avLst/>
          </a:prstGeom>
          <a:solidFill>
            <a:srgbClr val="414099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6" name="Text 4"/>
          <p:cNvSpPr/>
          <p:nvPr/>
        </p:nvSpPr>
        <p:spPr>
          <a:xfrm>
            <a:off x="640080" y="1984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✓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80160" y="1920240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What Copilot is and where to find it.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2624328"/>
            <a:ext cx="457200" cy="457200"/>
          </a:xfrm>
          <a:prstGeom prst="ellipse">
            <a:avLst/>
          </a:prstGeom>
          <a:solidFill>
            <a:srgbClr val="414099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9" name="Text 7"/>
          <p:cNvSpPr/>
          <p:nvPr/>
        </p:nvSpPr>
        <p:spPr>
          <a:xfrm>
            <a:off x="640080" y="2624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✓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80160" y="2560320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new pattern: Doel + Taak + Open vragen.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40080" y="3264408"/>
            <a:ext cx="457200" cy="457200"/>
          </a:xfrm>
          <a:prstGeom prst="ellipse">
            <a:avLst/>
          </a:prstGeom>
          <a:solidFill>
            <a:srgbClr val="414099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2" name="Text 10"/>
          <p:cNvSpPr/>
          <p:nvPr/>
        </p:nvSpPr>
        <p:spPr>
          <a:xfrm>
            <a:off x="640080" y="3264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✓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280160" y="3200400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Personal preferences set, Custom Instructions understood.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40080" y="3904488"/>
            <a:ext cx="457200" cy="457200"/>
          </a:xfrm>
          <a:prstGeom prst="ellipse">
            <a:avLst/>
          </a:prstGeom>
          <a:solidFill>
            <a:srgbClr val="414099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5" name="Text 13"/>
          <p:cNvSpPr/>
          <p:nvPr/>
        </p:nvSpPr>
        <p:spPr>
          <a:xfrm>
            <a:off x="640080" y="3904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✓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280160" y="3840480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Seven Copilot features that integrate across your work.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40080" y="4544568"/>
            <a:ext cx="457200" cy="457200"/>
          </a:xfrm>
          <a:prstGeom prst="ellipse">
            <a:avLst/>
          </a:prstGeom>
          <a:solidFill>
            <a:srgbClr val="414099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8" name="Text 16"/>
          <p:cNvSpPr/>
          <p:nvPr/>
        </p:nvSpPr>
        <p:spPr>
          <a:xfrm>
            <a:off x="640080" y="4544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✓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280160" y="4480560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5003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How to build, name, and live with an AI-collega.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48640" y="5486400"/>
            <a:ext cx="10881360" cy="777240"/>
          </a:xfrm>
          <a:prstGeom prst="rect">
            <a:avLst/>
          </a:prstGeom>
          <a:solidFill>
            <a:srgbClr val="F1F2F2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21" name="Text 19"/>
          <p:cNvSpPr/>
          <p:nvPr/>
        </p:nvSpPr>
        <p:spPr>
          <a:xfrm>
            <a:off x="777240" y="553212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AA6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One sentence each, round the room: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7240" y="585216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41409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"My agent is called [name]. It does [task]. The next thing I'll try is [thing]."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7FB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ING AI Day  •  13 May 2026  •  Wouter van den Bijgaart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789920" y="6492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FB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21 / 22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60583588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500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-3657600"/>
            <a:ext cx="9144000" cy="9144000"/>
          </a:xfrm>
          <a:prstGeom prst="ellipse">
            <a:avLst/>
          </a:prstGeom>
          <a:solidFill>
            <a:srgbClr val="414099">
              <a:alpha val="40000"/>
            </a:srgbClr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Shape 1"/>
          <p:cNvSpPr/>
          <p:nvPr/>
        </p:nvSpPr>
        <p:spPr>
          <a:xfrm>
            <a:off x="-3657600" y="3200400"/>
            <a:ext cx="9144000" cy="9144000"/>
          </a:xfrm>
          <a:prstGeom prst="ellipse">
            <a:avLst/>
          </a:prstGeom>
          <a:solidFill>
            <a:srgbClr val="8ED8F8">
              <a:alpha val="20000"/>
            </a:srgbClr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4" name="Image 0" descr="https://twofeetup.github.io/Brand_Assets/logos/TwoFeetUp_Full_Logo_Diapositief_Wit_For_dark_backgroun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502920"/>
            <a:ext cx="1828800" cy="26190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052560" y="502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400" dirty="0">
                <a:solidFill>
                  <a:srgbClr val="8473B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 PARTNERSHIP WITH</a:t>
            </a:r>
            <a:endParaRPr lang="en-US" sz="800" dirty="0"/>
          </a:p>
        </p:txBody>
      </p:sp>
      <p:pic>
        <p:nvPicPr>
          <p:cNvPr id="6" name="Image 1" descr="https://twofeetup.github.io/Brand_Assets/images/partner%20companies/Beeckestijn%20business%20school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875520" y="633871"/>
            <a:ext cx="1554480" cy="155032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1645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800" dirty="0">
                <a:solidFill>
                  <a:srgbClr val="FAA6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AND ONE LAST THING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640080" y="2148840"/>
            <a:ext cx="7269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You came in with a prompt.</a:t>
            </a:r>
            <a:endParaRPr lang="en-US" sz="4200" dirty="0"/>
          </a:p>
        </p:txBody>
      </p:sp>
      <p:sp>
        <p:nvSpPr>
          <p:cNvPr id="9" name="Text 5"/>
          <p:cNvSpPr/>
          <p:nvPr/>
        </p:nvSpPr>
        <p:spPr>
          <a:xfrm>
            <a:off x="640080" y="301752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8ED8F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You leave with a colleague.</a:t>
            </a:r>
            <a:endParaRPr lang="en-US" sz="4200" dirty="0"/>
          </a:p>
        </p:txBody>
      </p:sp>
      <p:sp>
        <p:nvSpPr>
          <p:cNvPr id="10" name="Shape 6"/>
          <p:cNvSpPr/>
          <p:nvPr/>
        </p:nvSpPr>
        <p:spPr>
          <a:xfrm>
            <a:off x="640080" y="4114800"/>
            <a:ext cx="914400" cy="54864"/>
          </a:xfrm>
          <a:prstGeom prst="rect">
            <a:avLst/>
          </a:prstGeom>
          <a:solidFill>
            <a:srgbClr val="FAA61A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1" name="Text 7"/>
          <p:cNvSpPr/>
          <p:nvPr/>
        </p:nvSpPr>
        <p:spPr>
          <a:xfrm>
            <a:off x="640080" y="43434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2200" b="1" kern="0" spc="400" dirty="0">
                <a:solidFill>
                  <a:srgbClr val="FAA6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MONDAY  </a:t>
            </a:r>
            <a:r>
              <a:rPr lang="en-US" sz="22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they're at work before you are.</a:t>
            </a:r>
            <a:endParaRPr lang="en-US" sz="2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200" b="1" kern="0" spc="400" dirty="0">
                <a:solidFill>
                  <a:srgbClr val="FAA6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FRIDAY  </a:t>
            </a:r>
            <a:r>
              <a:rPr lang="en-US" sz="22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you hire the second one.</a:t>
            </a:r>
            <a:endParaRPr lang="en-US" sz="2200" dirty="0"/>
          </a:p>
        </p:txBody>
      </p:sp>
      <p:sp>
        <p:nvSpPr>
          <p:cNvPr id="12" name="Shape 8"/>
          <p:cNvSpPr/>
          <p:nvPr/>
        </p:nvSpPr>
        <p:spPr>
          <a:xfrm>
            <a:off x="594360" y="5806440"/>
            <a:ext cx="822960" cy="822960"/>
          </a:xfrm>
          <a:prstGeom prst="ellipse">
            <a:avLst/>
          </a:prstGeom>
          <a:solidFill>
            <a:srgbClr val="8ED8F8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13" name="Image 2" descr="https://twofeetup.github.io/Brand_Assets/images/employees/Wout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5852160"/>
            <a:ext cx="731520" cy="731520"/>
          </a:xfrm>
          <a:prstGeom prst="ellipse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54480" y="58521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Wouter van den Bijgaart</a:t>
            </a:r>
            <a:endParaRPr lang="en-US" sz="1500" dirty="0"/>
          </a:p>
        </p:txBody>
      </p:sp>
      <p:sp>
        <p:nvSpPr>
          <p:cNvPr id="15" name="Text 10">
            <a:hlinkClick r:id="rId6"/>
          </p:cNvPr>
          <p:cNvSpPr/>
          <p:nvPr/>
        </p:nvSpPr>
        <p:spPr>
          <a:xfrm>
            <a:off x="1554480" y="619963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u="sng" dirty="0">
                <a:solidFill>
                  <a:srgbClr val="8ED8F8"/>
                </a:solidFill>
                <a:latin typeface="Nunito" pitchFamily="34" charset="0"/>
                <a:ea typeface="Nunito" pitchFamily="34" charset="-122"/>
                <a:cs typeface="Nunito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linkedin.com/in/wouter-van-den-bijgaart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10607040" y="5394960"/>
            <a:ext cx="1280160" cy="12801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17" name="Image 3" descr="https://api.qrserver.com/v1/create-qr-code/?size=600x600&amp;margin=0&amp;color=050034&amp;bgcolor=ffffff&amp;data=https%3A%2F%2Fwww.linkedin.com%2Fin%2Fwouter-van-den-bijgaart%2F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52760" y="5440680"/>
            <a:ext cx="1188720" cy="11887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909560" y="57150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kern="0" spc="400" dirty="0">
                <a:solidFill>
                  <a:srgbClr val="FAA6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SCAN TO CONNECT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7909560" y="60350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400" i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on LinkedIn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600632352"/>
      </p:ext>
    </p:extLst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17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02336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414099"/>
                </a:solidFill>
                <a:latin typeface="Nunito"/>
              </a:rPr>
              <a:t>DEEP DIVE  •  EXCEL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50034"/>
                </a:solidFill>
                <a:latin typeface="Nunito"/>
              </a:rPr>
              <a:t>Plain English in. Insight out.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6B6B8A"/>
                </a:solidFill>
                <a:latin typeface="Nunito"/>
              </a:rPr>
              <a:t>Stop wrestling with VLOOKUP. Ask Copilot what you actually want to know.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565392"/>
            <a:ext cx="11064240" cy="9525"/>
          </a:xfrm>
          <a:prstGeom prst="rect">
            <a:avLst/>
          </a:prstGeom>
          <a:solidFill>
            <a:srgbClr val="D8D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620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6B8A"/>
                </a:solidFill>
                <a:latin typeface="Nunito"/>
              </a:rPr>
              <a:t>ING AI Day  •  13 May 2026  •  Wouter van den Bijgaart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620256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6B8A"/>
                </a:solidFill>
                <a:latin typeface="Nunito"/>
              </a:rPr>
              <a:t>24 / 29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965960"/>
            <a:ext cx="5440680" cy="36118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solidFill>
              <a:srgbClr val="D8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965960"/>
            <a:ext cx="5440680" cy="292608"/>
          </a:xfrm>
          <a:prstGeom prst="rect">
            <a:avLst/>
          </a:prstGeom>
          <a:solidFill>
            <a:srgbClr val="217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02536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Nunito"/>
              </a:rPr>
              <a:t>Q3-tribe-sales.xlsx  —  Excel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33172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6B6B8A"/>
                </a:solidFill>
                <a:latin typeface="Nunito"/>
              </a:rPr>
              <a:t>fx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2331720"/>
            <a:ext cx="4800600" cy="274320"/>
          </a:xfrm>
          <a:prstGeom prst="rect">
            <a:avLst/>
          </a:prstGeom>
          <a:solidFill>
            <a:srgbClr val="F1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2359152"/>
            <a:ext cx="4663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50034"/>
                </a:solidFill>
                <a:latin typeface="Consolas"/>
              </a:rPr>
              <a:t>=COPILOT("What's the trend in Q3 vs Q2?")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2715768"/>
            <a:ext cx="1033272" cy="384048"/>
          </a:xfrm>
          <a:prstGeom prst="rect">
            <a:avLst/>
          </a:prstGeom>
          <a:solidFill>
            <a:srgbClr val="E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715768"/>
            <a:ext cx="10332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17346"/>
                </a:solidFill>
                <a:latin typeface="Nunito"/>
              </a:rPr>
              <a:t>Week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719072" y="2715768"/>
            <a:ext cx="1033272" cy="384048"/>
          </a:xfrm>
          <a:prstGeom prst="rect">
            <a:avLst/>
          </a:prstGeom>
          <a:solidFill>
            <a:srgbClr val="E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19072" y="2715768"/>
            <a:ext cx="10332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17346"/>
                </a:solidFill>
                <a:latin typeface="Nunito"/>
              </a:rPr>
              <a:t>Visits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52344" y="2715768"/>
            <a:ext cx="1033272" cy="384048"/>
          </a:xfrm>
          <a:prstGeom prst="rect">
            <a:avLst/>
          </a:prstGeom>
          <a:solidFill>
            <a:srgbClr val="E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52344" y="2715768"/>
            <a:ext cx="10332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17346"/>
                </a:solidFill>
                <a:latin typeface="Nunito"/>
              </a:rPr>
              <a:t>Leads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85616" y="2715768"/>
            <a:ext cx="1033272" cy="384048"/>
          </a:xfrm>
          <a:prstGeom prst="rect">
            <a:avLst/>
          </a:prstGeom>
          <a:solidFill>
            <a:srgbClr val="E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85616" y="2715768"/>
            <a:ext cx="10332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17346"/>
                </a:solidFill>
                <a:latin typeface="Nunito"/>
              </a:rPr>
              <a:t>CVR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18888" y="2715768"/>
            <a:ext cx="1033272" cy="384048"/>
          </a:xfrm>
          <a:prstGeom prst="rect">
            <a:avLst/>
          </a:prstGeom>
          <a:solidFill>
            <a:srgbClr val="E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18888" y="2715768"/>
            <a:ext cx="10332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17346"/>
                </a:solidFill>
                <a:latin typeface="Nunito"/>
              </a:rPr>
              <a:t>Trend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3099816"/>
            <a:ext cx="1033272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3099816"/>
            <a:ext cx="10332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50034"/>
                </a:solidFill>
                <a:latin typeface="Nunito"/>
              </a:rPr>
              <a:t>W27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719072" y="3099816"/>
            <a:ext cx="1033272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19072" y="3099816"/>
            <a:ext cx="10332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050034"/>
                </a:solidFill>
                <a:latin typeface="Nunito"/>
              </a:rPr>
              <a:t>8.2k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52344" y="3099816"/>
            <a:ext cx="1033272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52344" y="3099816"/>
            <a:ext cx="10332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050034"/>
                </a:solidFill>
                <a:latin typeface="Nunito"/>
              </a:rPr>
              <a:t>412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785616" y="3099816"/>
            <a:ext cx="1033272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85616" y="3099816"/>
            <a:ext cx="10332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050034"/>
                </a:solidFill>
                <a:latin typeface="Nunito"/>
              </a:rPr>
              <a:t>5.0%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18888" y="3099816"/>
            <a:ext cx="1033272" cy="384048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18888" y="3099816"/>
            <a:ext cx="10332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17346"/>
                </a:solidFill>
                <a:latin typeface="Nunito"/>
              </a:rPr>
              <a:t>▲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" y="3483864"/>
            <a:ext cx="1033272" cy="384048"/>
          </a:xfrm>
          <a:prstGeom prst="rect">
            <a:avLst/>
          </a:prstGeom>
          <a:solidFill>
            <a:srgbClr val="FA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3483864"/>
            <a:ext cx="10332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50034"/>
                </a:solidFill>
                <a:latin typeface="Nunito"/>
              </a:rPr>
              <a:t>W28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719072" y="3483864"/>
            <a:ext cx="1033272" cy="384048"/>
          </a:xfrm>
          <a:prstGeom prst="rect">
            <a:avLst/>
          </a:prstGeom>
          <a:solidFill>
            <a:srgbClr val="FA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719072" y="3483864"/>
            <a:ext cx="10332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050034"/>
                </a:solidFill>
                <a:latin typeface="Nunito"/>
              </a:rPr>
              <a:t>9.1k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52344" y="3483864"/>
            <a:ext cx="1033272" cy="384048"/>
          </a:xfrm>
          <a:prstGeom prst="rect">
            <a:avLst/>
          </a:prstGeom>
          <a:solidFill>
            <a:srgbClr val="FA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52344" y="3483864"/>
            <a:ext cx="10332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050034"/>
                </a:solidFill>
                <a:latin typeface="Nunito"/>
              </a:rPr>
              <a:t>468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785616" y="3483864"/>
            <a:ext cx="1033272" cy="384048"/>
          </a:xfrm>
          <a:prstGeom prst="rect">
            <a:avLst/>
          </a:prstGeom>
          <a:solidFill>
            <a:srgbClr val="FA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85616" y="3483864"/>
            <a:ext cx="10332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050034"/>
                </a:solidFill>
                <a:latin typeface="Nunito"/>
              </a:rPr>
              <a:t>5.1%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818888" y="3483864"/>
            <a:ext cx="1033272" cy="384048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818888" y="3483864"/>
            <a:ext cx="10332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17346"/>
                </a:solidFill>
                <a:latin typeface="Nunito"/>
              </a:rPr>
              <a:t>▲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85800" y="3867912"/>
            <a:ext cx="1033272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" y="3867912"/>
            <a:ext cx="10332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50034"/>
                </a:solidFill>
                <a:latin typeface="Nunito"/>
              </a:rPr>
              <a:t>W29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719072" y="3867912"/>
            <a:ext cx="1033272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719072" y="3867912"/>
            <a:ext cx="10332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050034"/>
                </a:solidFill>
                <a:latin typeface="Nunito"/>
              </a:rPr>
              <a:t>8.9k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52344" y="3867912"/>
            <a:ext cx="1033272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52344" y="3867912"/>
            <a:ext cx="10332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050034"/>
                </a:solidFill>
                <a:latin typeface="Nunito"/>
              </a:rPr>
              <a:t>503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785616" y="3867912"/>
            <a:ext cx="1033272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785616" y="3867912"/>
            <a:ext cx="10332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050034"/>
                </a:solidFill>
                <a:latin typeface="Nunito"/>
              </a:rPr>
              <a:t>5.6%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818888" y="3867912"/>
            <a:ext cx="1033272" cy="384048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818888" y="3867912"/>
            <a:ext cx="10332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17346"/>
                </a:solidFill>
                <a:latin typeface="Nunito"/>
              </a:rPr>
              <a:t>▲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85800" y="4251960"/>
            <a:ext cx="1033272" cy="384048"/>
          </a:xfrm>
          <a:prstGeom prst="rect">
            <a:avLst/>
          </a:prstGeom>
          <a:solidFill>
            <a:srgbClr val="FA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5800" y="4251960"/>
            <a:ext cx="10332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50034"/>
                </a:solidFill>
                <a:latin typeface="Nunito"/>
              </a:rPr>
              <a:t>W30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719072" y="4251960"/>
            <a:ext cx="1033272" cy="384048"/>
          </a:xfrm>
          <a:prstGeom prst="rect">
            <a:avLst/>
          </a:prstGeom>
          <a:solidFill>
            <a:srgbClr val="FA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719072" y="4251960"/>
            <a:ext cx="10332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050034"/>
                </a:solidFill>
                <a:latin typeface="Nunito"/>
              </a:rPr>
              <a:t>9.4k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52344" y="4251960"/>
            <a:ext cx="1033272" cy="384048"/>
          </a:xfrm>
          <a:prstGeom prst="rect">
            <a:avLst/>
          </a:prstGeom>
          <a:solidFill>
            <a:srgbClr val="FA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752344" y="4251960"/>
            <a:ext cx="10332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050034"/>
                </a:solidFill>
                <a:latin typeface="Nunito"/>
              </a:rPr>
              <a:t>489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785616" y="4251960"/>
            <a:ext cx="1033272" cy="384048"/>
          </a:xfrm>
          <a:prstGeom prst="rect">
            <a:avLst/>
          </a:prstGeom>
          <a:solidFill>
            <a:srgbClr val="FA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785616" y="4251960"/>
            <a:ext cx="10332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050034"/>
                </a:solidFill>
                <a:latin typeface="Nunito"/>
              </a:rPr>
              <a:t>5.2%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818888" y="4251960"/>
            <a:ext cx="1033272" cy="384048"/>
          </a:xfrm>
          <a:prstGeom prst="rect">
            <a:avLst/>
          </a:prstGeom>
          <a:solidFill>
            <a:srgbClr val="FFC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818888" y="4251960"/>
            <a:ext cx="10332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C62828"/>
                </a:solidFill>
                <a:latin typeface="Nunito"/>
              </a:rPr>
              <a:t>▼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85800" y="4636008"/>
            <a:ext cx="1033272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85800" y="4636008"/>
            <a:ext cx="10332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50034"/>
                </a:solidFill>
                <a:latin typeface="Nunito"/>
              </a:rPr>
              <a:t>W31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719072" y="4636008"/>
            <a:ext cx="1033272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719072" y="4636008"/>
            <a:ext cx="10332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050034"/>
                </a:solidFill>
                <a:latin typeface="Nunito"/>
              </a:rPr>
              <a:t>10.1k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752344" y="4636008"/>
            <a:ext cx="1033272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752344" y="4636008"/>
            <a:ext cx="10332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050034"/>
                </a:solidFill>
                <a:latin typeface="Nunito"/>
              </a:rPr>
              <a:t>612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785616" y="4636008"/>
            <a:ext cx="1033272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785616" y="4636008"/>
            <a:ext cx="10332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050034"/>
                </a:solidFill>
                <a:latin typeface="Nunito"/>
              </a:rPr>
              <a:t>6.1%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818888" y="4636008"/>
            <a:ext cx="1033272" cy="384048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818888" y="4636008"/>
            <a:ext cx="10332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17346"/>
                </a:solidFill>
                <a:latin typeface="Nunito"/>
              </a:rPr>
              <a:t>▲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263640" y="2075688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217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263640" y="2075688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unito"/>
              </a:rPr>
              <a:t>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766560" y="2011680"/>
            <a:ext cx="4892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50034"/>
                </a:solidFill>
                <a:latin typeface="Nunito"/>
              </a:rPr>
              <a:t>Ask in English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766560" y="2304288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B6B8A"/>
                </a:solidFill>
                <a:latin typeface="Nunito"/>
              </a:rPr>
              <a:t>Formulas, no syntax.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263640" y="2788920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217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263640" y="278892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unito"/>
              </a:rPr>
              <a:t>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766560" y="2724912"/>
            <a:ext cx="4892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50034"/>
                </a:solidFill>
                <a:latin typeface="Nunito"/>
              </a:rPr>
              <a:t>Charts &amp; PivotTables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766560" y="3017520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B6B8A"/>
                </a:solidFill>
                <a:latin typeface="Nunito"/>
              </a:rPr>
              <a:t>One-prompt visuals.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6263640" y="3502152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217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263640" y="3502152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unito"/>
              </a:rPr>
              <a:t>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766560" y="3438144"/>
            <a:ext cx="4892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50034"/>
                </a:solidFill>
                <a:latin typeface="Nunito"/>
              </a:rPr>
              <a:t>Summarise the sheet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766560" y="3730752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B6B8A"/>
                </a:solidFill>
                <a:latin typeface="Nunito"/>
              </a:rPr>
              <a:t>Trends, outliers, gaps.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6263640" y="4215384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217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263640" y="4215384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unito"/>
              </a:rPr>
              <a:t>4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766560" y="4151376"/>
            <a:ext cx="4892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50034"/>
                </a:solidFill>
                <a:latin typeface="Nunito"/>
              </a:rPr>
              <a:t>Clean messy data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766560" y="4443984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B6B8A"/>
                </a:solidFill>
                <a:latin typeface="Nunito"/>
              </a:rPr>
              <a:t>Split, dedupe, reformat.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6263640" y="4928616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217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263640" y="4928616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unito"/>
              </a:rPr>
              <a:t>5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766560" y="4864608"/>
            <a:ext cx="4892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50034"/>
                </a:solidFill>
                <a:latin typeface="Nunito"/>
              </a:rPr>
              <a:t>Next-step suggestions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766560" y="5157216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B6B8A"/>
                </a:solidFill>
                <a:latin typeface="Nunito"/>
              </a:rPr>
              <a:t>What to look at next.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548640" y="5779008"/>
            <a:ext cx="1554480" cy="457200"/>
          </a:xfrm>
          <a:prstGeom prst="roundRect">
            <a:avLst>
              <a:gd name="adj" fmla="val 40000"/>
            </a:avLst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548640" y="5779008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Nunito"/>
              </a:rPr>
              <a:t>TRY THIS NEXT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240280" y="5779008"/>
            <a:ext cx="9372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>
                <a:solidFill>
                  <a:srgbClr val="050034"/>
                </a:solidFill>
                <a:latin typeface="Nunito"/>
              </a:rPr>
              <a:t>Open any Excel file and ask Copilot: “What’s the most interesting thing in this data?”</a:t>
            </a:r>
          </a:p>
        </p:txBody>
      </p:sp>
    </p:spTree>
    <p:extLst>
      <p:ext uri="{BB962C8B-B14F-4D97-AF65-F5344CB8AC3E}">
        <p14:creationId xmlns:p14="http://schemas.microsoft.com/office/powerpoint/2010/main" val="24824269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14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02336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414099"/>
                </a:solidFill>
                <a:latin typeface="Nunito"/>
              </a:rPr>
              <a:t>DEEP DIVE  •  PLANNED PROMPTS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50034"/>
                </a:solidFill>
                <a:latin typeface="Nunito"/>
              </a:rPr>
              <a:t>A prompt that runs itself.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6B6B8A"/>
                </a:solidFill>
                <a:latin typeface="Nunito"/>
              </a:rPr>
              <a:t>Saved, scheduled, shared. Recurring chores become Monday-morning outputs.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565392"/>
            <a:ext cx="11064240" cy="9525"/>
          </a:xfrm>
          <a:prstGeom prst="rect">
            <a:avLst/>
          </a:prstGeom>
          <a:solidFill>
            <a:srgbClr val="D8D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620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6B8A"/>
                </a:solidFill>
                <a:latin typeface="Nunito"/>
              </a:rPr>
              <a:t>ING AI Day  •  13 May 2026  •  Wouter van den Bijgaart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620256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6B8A"/>
                </a:solidFill>
                <a:latin typeface="Nunito"/>
              </a:rPr>
              <a:t>25 / 29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965960"/>
            <a:ext cx="5440680" cy="36118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solidFill>
              <a:srgbClr val="D8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965960"/>
            <a:ext cx="5440680" cy="292608"/>
          </a:xfrm>
          <a:prstGeom prst="rect">
            <a:avLst/>
          </a:prstGeom>
          <a:solidFill>
            <a:srgbClr val="414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02536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Nunito"/>
              </a:rPr>
              <a:t>Scheduled prompts  —  this week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423160"/>
            <a:ext cx="1033272" cy="329184"/>
          </a:xfrm>
          <a:prstGeom prst="rect">
            <a:avLst/>
          </a:prstGeom>
          <a:solidFill>
            <a:srgbClr val="F1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423160"/>
            <a:ext cx="103327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414099"/>
                </a:solidFill>
                <a:latin typeface="Nunito"/>
              </a:rPr>
              <a:t>MON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19072" y="2423160"/>
            <a:ext cx="1033272" cy="329184"/>
          </a:xfrm>
          <a:prstGeom prst="rect">
            <a:avLst/>
          </a:prstGeom>
          <a:solidFill>
            <a:srgbClr val="F1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19072" y="2423160"/>
            <a:ext cx="103327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414099"/>
                </a:solidFill>
                <a:latin typeface="Nunito"/>
              </a:rPr>
              <a:t>TUE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52344" y="2423160"/>
            <a:ext cx="1033272" cy="329184"/>
          </a:xfrm>
          <a:prstGeom prst="rect">
            <a:avLst/>
          </a:prstGeom>
          <a:solidFill>
            <a:srgbClr val="F1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52344" y="2423160"/>
            <a:ext cx="103327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414099"/>
                </a:solidFill>
                <a:latin typeface="Nunito"/>
              </a:rPr>
              <a:t>WED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85616" y="2423160"/>
            <a:ext cx="1033272" cy="329184"/>
          </a:xfrm>
          <a:prstGeom prst="rect">
            <a:avLst/>
          </a:prstGeom>
          <a:solidFill>
            <a:srgbClr val="F1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85616" y="2423160"/>
            <a:ext cx="103327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414099"/>
                </a:solidFill>
                <a:latin typeface="Nunito"/>
              </a:rPr>
              <a:t>THU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18888" y="2423160"/>
            <a:ext cx="1033272" cy="329184"/>
          </a:xfrm>
          <a:prstGeom prst="rect">
            <a:avLst/>
          </a:prstGeom>
          <a:solidFill>
            <a:srgbClr val="F1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18888" y="2423160"/>
            <a:ext cx="103327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414099"/>
                </a:solidFill>
                <a:latin typeface="Nunito"/>
              </a:rPr>
              <a:t>FRI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2752344"/>
            <a:ext cx="1033272" cy="2697480"/>
          </a:xfrm>
          <a:prstGeom prst="rect">
            <a:avLst/>
          </a:prstGeom>
          <a:solidFill>
            <a:srgbClr val="FB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719072" y="2752344"/>
            <a:ext cx="1033272" cy="2697480"/>
          </a:xfrm>
          <a:prstGeom prst="rect">
            <a:avLst/>
          </a:prstGeom>
          <a:solidFill>
            <a:srgbClr val="FB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52344" y="2752344"/>
            <a:ext cx="1033272" cy="2697480"/>
          </a:xfrm>
          <a:prstGeom prst="rect">
            <a:avLst/>
          </a:prstGeom>
          <a:solidFill>
            <a:srgbClr val="FB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785616" y="2752344"/>
            <a:ext cx="1033272" cy="2697480"/>
          </a:xfrm>
          <a:prstGeom prst="rect">
            <a:avLst/>
          </a:prstGeom>
          <a:solidFill>
            <a:srgbClr val="FB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818888" y="2752344"/>
            <a:ext cx="1033272" cy="2697480"/>
          </a:xfrm>
          <a:prstGeom prst="rect">
            <a:avLst/>
          </a:prstGeom>
          <a:solidFill>
            <a:srgbClr val="FB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31520" y="2843784"/>
            <a:ext cx="941832" cy="777240"/>
          </a:xfrm>
          <a:prstGeom prst="roundRect">
            <a:avLst>
              <a:gd name="adj" fmla="val 15000"/>
            </a:avLst>
          </a:prstGeom>
          <a:solidFill>
            <a:srgbClr val="414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2898648"/>
            <a:ext cx="758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Nunito"/>
              </a:rPr>
              <a:t>08:00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3136392"/>
            <a:ext cx="7589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Nunito"/>
              </a:rPr>
              <a:t>Status</a:t>
            </a:r>
          </a:p>
          <a:p>
            <a:pPr algn="l"/>
            <a:r>
              <a:rPr sz="1000" b="0" i="0">
                <a:solidFill>
                  <a:srgbClr val="FFFFFF"/>
                </a:solidFill>
                <a:latin typeface="Nunito"/>
              </a:rPr>
              <a:t>summary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98064" y="3392424"/>
            <a:ext cx="941832" cy="777240"/>
          </a:xfrm>
          <a:prstGeom prst="roundRect">
            <a:avLst>
              <a:gd name="adj" fmla="val 15000"/>
            </a:avLst>
          </a:prstGeom>
          <a:solidFill>
            <a:srgbClr val="8473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89504" y="3447288"/>
            <a:ext cx="758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Nunito"/>
              </a:rPr>
              <a:t>10:00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89504" y="3685032"/>
            <a:ext cx="7589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Nunito"/>
              </a:rPr>
              <a:t>Customer</a:t>
            </a:r>
          </a:p>
          <a:p>
            <a:pPr algn="l"/>
            <a:r>
              <a:rPr sz="1000" b="0" i="0">
                <a:solidFill>
                  <a:srgbClr val="FFFFFF"/>
                </a:solidFill>
                <a:latin typeface="Nunito"/>
              </a:rPr>
              <a:t>feedback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864608" y="4215384"/>
            <a:ext cx="941832" cy="777240"/>
          </a:xfrm>
          <a:prstGeom prst="roundRect">
            <a:avLst>
              <a:gd name="adj" fmla="val 15000"/>
            </a:avLst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56048" y="4270248"/>
            <a:ext cx="758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Nunito"/>
              </a:rPr>
              <a:t>17:00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56048" y="4507992"/>
            <a:ext cx="7589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Nunito"/>
              </a:rPr>
              <a:t>Weekly</a:t>
            </a:r>
          </a:p>
          <a:p>
            <a:pPr algn="l"/>
            <a:r>
              <a:rPr sz="1000" b="0" i="0">
                <a:solidFill>
                  <a:srgbClr val="FFFFFF"/>
                </a:solidFill>
                <a:latin typeface="Nunito"/>
              </a:rPr>
              <a:t>digest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5120640"/>
            <a:ext cx="5166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1">
                <a:solidFill>
                  <a:srgbClr val="6B6B8A"/>
                </a:solidFill>
                <a:latin typeface="Nunito"/>
              </a:rPr>
              <a:t>Set once  ·  runs forever  ·  lands in Pages.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63640" y="2075688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414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63640" y="2075688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unito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0" y="2011680"/>
            <a:ext cx="4892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50034"/>
                </a:solidFill>
                <a:latin typeface="Nunito"/>
              </a:rPr>
              <a:t>Save once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6560" y="2304288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B6B8A"/>
                </a:solidFill>
                <a:latin typeface="Nunito"/>
              </a:rPr>
              <a:t>One-click reuse, no retyping.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63640" y="2788920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414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63640" y="278892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unito"/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66560" y="2724912"/>
            <a:ext cx="4892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50034"/>
                </a:solidFill>
                <a:latin typeface="Nunito"/>
              </a:rPr>
              <a:t>Schedule it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66560" y="3017520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B6B8A"/>
                </a:solidFill>
                <a:latin typeface="Nunito"/>
              </a:rPr>
              <a:t>Daily, weekly, monthly.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63640" y="3502152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414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63640" y="3502152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unito"/>
              </a:rPr>
              <a:t>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66560" y="3438144"/>
            <a:ext cx="4892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50034"/>
                </a:solidFill>
                <a:latin typeface="Nunito"/>
              </a:rPr>
              <a:t>Share with the team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66560" y="3730752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B6B8A"/>
                </a:solidFill>
                <a:latin typeface="Nunito"/>
              </a:rPr>
              <a:t>Same prompt, same output.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63640" y="4215384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414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63640" y="4215384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unito"/>
              </a:rPr>
              <a:t>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66560" y="4151376"/>
            <a:ext cx="4892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50034"/>
                </a:solidFill>
                <a:latin typeface="Nunito"/>
              </a:rPr>
              <a:t>Chain with context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66560" y="4443984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B6B8A"/>
                </a:solidFill>
                <a:latin typeface="Nunito"/>
              </a:rPr>
              <a:t>Files, meetings, mailboxes.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263640" y="4928616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414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63640" y="4928616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unito"/>
              </a:rPr>
              <a:t>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66560" y="4864608"/>
            <a:ext cx="4892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50034"/>
                </a:solidFill>
                <a:latin typeface="Nunito"/>
              </a:rPr>
              <a:t>Great for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66560" y="5157216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B6B8A"/>
                </a:solidFill>
                <a:latin typeface="Nunito"/>
              </a:rPr>
              <a:t>Reports, digests, meeting prep.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48640" y="5779008"/>
            <a:ext cx="1554480" cy="457200"/>
          </a:xfrm>
          <a:prstGeom prst="roundRect">
            <a:avLst>
              <a:gd name="adj" fmla="val 40000"/>
            </a:avLst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48640" y="5779008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Nunito"/>
              </a:rPr>
              <a:t>TRY THIS NEXT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240280" y="5779008"/>
            <a:ext cx="9372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>
                <a:solidFill>
                  <a:srgbClr val="050034"/>
                </a:solidFill>
                <a:latin typeface="Nunito"/>
              </a:rPr>
              <a:t>Open Copilot › Prompts › New planned prompt and schedule one for Monday 08:00.</a:t>
            </a:r>
          </a:p>
        </p:txBody>
      </p:sp>
    </p:spTree>
    <p:extLst>
      <p:ext uri="{BB962C8B-B14F-4D97-AF65-F5344CB8AC3E}">
        <p14:creationId xmlns:p14="http://schemas.microsoft.com/office/powerpoint/2010/main" val="22536964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14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02336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414099"/>
                </a:solidFill>
                <a:latin typeface="Nunito"/>
              </a:rPr>
              <a:t>DEEP DIVE  •  M365 INTEGRATIONS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50034"/>
                </a:solidFill>
                <a:latin typeface="Nunito"/>
              </a:rPr>
              <a:t>One Copilot. Every app.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6B6B8A"/>
                </a:solidFill>
                <a:latin typeface="Nunito"/>
              </a:rPr>
              <a:t>Same patterns inside Word, Excel, PowerPoint, Outlook, Teams and OneNote.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565392"/>
            <a:ext cx="11064240" cy="9525"/>
          </a:xfrm>
          <a:prstGeom prst="rect">
            <a:avLst/>
          </a:prstGeom>
          <a:solidFill>
            <a:srgbClr val="D8D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620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6B8A"/>
                </a:solidFill>
                <a:latin typeface="Nunito"/>
              </a:rPr>
              <a:t>ING AI Day  •  13 May 2026  •  Wouter van den Bijgaart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620256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6B8A"/>
                </a:solidFill>
                <a:latin typeface="Nunito"/>
              </a:rPr>
              <a:t>26 / 29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965960"/>
            <a:ext cx="5440680" cy="36118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solidFill>
              <a:srgbClr val="D8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628900" y="3131820"/>
            <a:ext cx="1280160" cy="1280160"/>
          </a:xfrm>
          <a:prstGeom prst="ellipse">
            <a:avLst/>
          </a:prstGeom>
          <a:solidFill>
            <a:srgbClr val="414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28900" y="3086100"/>
            <a:ext cx="128016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Nunito"/>
              </a:rPr>
              <a:t>Copilot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28900" y="3424428"/>
            <a:ext cx="128016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8ED8F8"/>
                </a:solidFill>
                <a:latin typeface="Nunito"/>
              </a:rPr>
              <a:t>M365</a:t>
            </a:r>
          </a:p>
        </p:txBody>
      </p:sp>
      <p:cxnSp>
        <p:nvCxnSpPr>
          <p:cNvPr id="13" name="Connector 12"/>
          <p:cNvCxnSpPr/>
          <p:nvPr/>
        </p:nvCxnSpPr>
        <p:spPr>
          <a:xfrm flipH="1" flipV="1">
            <a:off x="1485900.0" y="2811780.0"/>
            <a:ext cx="1783080.0" cy="960120.0"/>
          </a:xfrm>
          <a:prstGeom prst="line">
            <a:avLst/>
          </a:prstGeom>
          <a:ln w="12700">
            <a:solidFill>
              <a:srgbClr val="D8D9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1097280" y="2423160"/>
            <a:ext cx="777240" cy="777240"/>
          </a:xfrm>
          <a:prstGeom prst="ellipse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2423160"/>
            <a:ext cx="777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Nunito"/>
              </a:rPr>
              <a:t>WO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218688"/>
            <a:ext cx="1508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050034"/>
                </a:solidFill>
                <a:latin typeface="Nunito"/>
              </a:rPr>
              <a:t>Word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3268980.0" y="2811780.0"/>
            <a:ext cx="1783080.0" cy="960120.0"/>
          </a:xfrm>
          <a:prstGeom prst="line">
            <a:avLst/>
          </a:prstGeom>
          <a:ln w="12700">
            <a:solidFill>
              <a:srgbClr val="D8D9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4663440" y="2423160"/>
            <a:ext cx="777240" cy="777240"/>
          </a:xfrm>
          <a:prstGeom prst="ellipse">
            <a:avLst/>
          </a:prstGeom>
          <a:solidFill>
            <a:srgbClr val="217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0" y="2423160"/>
            <a:ext cx="777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Nunito"/>
              </a:rPr>
              <a:t>EX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3218688"/>
            <a:ext cx="1508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050034"/>
                </a:solidFill>
                <a:latin typeface="Nunito"/>
              </a:rPr>
              <a:t>Excel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1165860.0" y="3771900.0"/>
            <a:ext cx="2103120.0" cy="0.0"/>
          </a:xfrm>
          <a:prstGeom prst="line">
            <a:avLst/>
          </a:prstGeom>
          <a:ln w="12700">
            <a:solidFill>
              <a:srgbClr val="D8D9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777240" y="3383280"/>
            <a:ext cx="777240" cy="777240"/>
          </a:xfrm>
          <a:prstGeom prst="ellipse">
            <a:avLst/>
          </a:prstGeom>
          <a:solidFill>
            <a:srgbClr val="D24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3383280"/>
            <a:ext cx="777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Nunito"/>
              </a:rPr>
              <a:t>PP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4178808"/>
            <a:ext cx="1508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050034"/>
                </a:solidFill>
                <a:latin typeface="Nunito"/>
              </a:rPr>
              <a:t>PowerPoint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268980.0" y="3771900.0"/>
            <a:ext cx="2103120.0" cy="0.0"/>
          </a:xfrm>
          <a:prstGeom prst="line">
            <a:avLst/>
          </a:prstGeom>
          <a:ln w="12700">
            <a:solidFill>
              <a:srgbClr val="D8D9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4983480" y="3383280"/>
            <a:ext cx="777240" cy="777240"/>
          </a:xfrm>
          <a:prstGeom prst="ellipse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83480" y="3383280"/>
            <a:ext cx="777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Nunito"/>
              </a:rPr>
              <a:t>OU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4178808"/>
            <a:ext cx="1508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050034"/>
                </a:solidFill>
                <a:latin typeface="Nunito"/>
              </a:rPr>
              <a:t>Outlook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1485900.0" y="3771900.0"/>
            <a:ext cx="1783080.0" cy="960120.0"/>
          </a:xfrm>
          <a:prstGeom prst="line">
            <a:avLst/>
          </a:prstGeom>
          <a:ln w="12700">
            <a:solidFill>
              <a:srgbClr val="D8D9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1097280" y="4343400"/>
            <a:ext cx="777240" cy="777240"/>
          </a:xfrm>
          <a:prstGeom prst="ellipse">
            <a:avLst/>
          </a:prstGeom>
          <a:solidFill>
            <a:srgbClr val="494D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7280" y="4343400"/>
            <a:ext cx="777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Nunito"/>
              </a:rPr>
              <a:t>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138928"/>
            <a:ext cx="1508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050034"/>
                </a:solidFill>
                <a:latin typeface="Nunito"/>
              </a:rPr>
              <a:t>Teams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268980.0" y="3771900.0"/>
            <a:ext cx="1783080.0" cy="960120.0"/>
          </a:xfrm>
          <a:prstGeom prst="line">
            <a:avLst/>
          </a:prstGeom>
          <a:ln w="12700">
            <a:solidFill>
              <a:srgbClr val="D8D9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4663440" y="4343400"/>
            <a:ext cx="777240" cy="777240"/>
          </a:xfrm>
          <a:prstGeom prst="ellipse">
            <a:avLst/>
          </a:prstGeom>
          <a:solidFill>
            <a:srgbClr val="7A3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63440" y="4343400"/>
            <a:ext cx="777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Nunito"/>
              </a:rPr>
              <a:t>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7680" y="5138928"/>
            <a:ext cx="1508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050034"/>
                </a:solidFill>
                <a:latin typeface="Nunito"/>
              </a:rPr>
              <a:t>OneNote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63640" y="2075688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414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63640" y="2075688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unito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0" y="2011680"/>
            <a:ext cx="4892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50034"/>
                </a:solidFill>
                <a:latin typeface="Nunito"/>
              </a:rPr>
              <a:t>Stay in-app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6560" y="2304288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B6B8A"/>
                </a:solidFill>
                <a:latin typeface="Nunito"/>
              </a:rPr>
              <a:t>Draft, rewrite, summarise.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63640" y="2788920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414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63640" y="278892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unito"/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66560" y="2724912"/>
            <a:ext cx="4892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50034"/>
                </a:solidFill>
                <a:latin typeface="Nunito"/>
              </a:rPr>
              <a:t>Cross-app context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66560" y="3017520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B6B8A"/>
                </a:solidFill>
                <a:latin typeface="Nunito"/>
              </a:rPr>
              <a:t>Teams chat → Word doc.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63640" y="3502152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414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63640" y="3502152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unito"/>
              </a:rPr>
              <a:t>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66560" y="3438144"/>
            <a:ext cx="4892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50034"/>
                </a:solidFill>
                <a:latin typeface="Nunito"/>
              </a:rPr>
              <a:t>One sign-in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66560" y="3730752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B6B8A"/>
                </a:solidFill>
                <a:latin typeface="Nunito"/>
              </a:rPr>
              <a:t>Tenant data, enterprise-grade.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63640" y="4215384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414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63640" y="4215384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unito"/>
              </a:rPr>
              <a:t>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66560" y="4151376"/>
            <a:ext cx="4892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50034"/>
                </a:solidFill>
                <a:latin typeface="Nunito"/>
              </a:rPr>
              <a:t>Learn once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66560" y="4443984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B6B8A"/>
                </a:solidFill>
                <a:latin typeface="Nunito"/>
              </a:rPr>
              <a:t>Use across the suite.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263640" y="4928616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414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63640" y="4928616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unito"/>
              </a:rPr>
              <a:t>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66560" y="4864608"/>
            <a:ext cx="4892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50034"/>
                </a:solidFill>
                <a:latin typeface="Nunito"/>
              </a:rPr>
              <a:t>Tab · click · ask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66560" y="5157216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B6B8A"/>
                </a:solidFill>
                <a:latin typeface="Nunito"/>
              </a:rPr>
              <a:t>Three keystrokes, always.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48640" y="5779008"/>
            <a:ext cx="1554480" cy="457200"/>
          </a:xfrm>
          <a:prstGeom prst="roundRect">
            <a:avLst>
              <a:gd name="adj" fmla="val 40000"/>
            </a:avLst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48640" y="5779008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Nunito"/>
              </a:rPr>
              <a:t>TRY THIS NEXT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240280" y="5779008"/>
            <a:ext cx="9372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>
                <a:solidFill>
                  <a:srgbClr val="050034"/>
                </a:solidFill>
                <a:latin typeface="Nunito"/>
              </a:rPr>
              <a:t>In any M365 app, hit the Copilot icon and ask: “Summarise this for me.”</a:t>
            </a:r>
          </a:p>
        </p:txBody>
      </p:sp>
    </p:spTree>
    <p:extLst>
      <p:ext uri="{BB962C8B-B14F-4D97-AF65-F5344CB8AC3E}">
        <p14:creationId xmlns:p14="http://schemas.microsoft.com/office/powerpoint/2010/main" val="34308031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02336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414099"/>
                </a:solidFill>
                <a:latin typeface="Nunito"/>
              </a:rPr>
              <a:t>DEEP DIVE  •  OUTLOOK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50034"/>
                </a:solidFill>
                <a:latin typeface="Nunito"/>
              </a:rPr>
              <a:t>Find anything. In plain English.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6B6B8A"/>
                </a:solidFill>
                <a:latin typeface="Nunito"/>
              </a:rPr>
              <a:t>No Boolean operators. No advanced filters. Just the question you would ask a colleague.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565392"/>
            <a:ext cx="11064240" cy="9525"/>
          </a:xfrm>
          <a:prstGeom prst="rect">
            <a:avLst/>
          </a:prstGeom>
          <a:solidFill>
            <a:srgbClr val="D8D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620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6B8A"/>
                </a:solidFill>
                <a:latin typeface="Nunito"/>
              </a:rPr>
              <a:t>ING AI Day  •  13 May 2026  •  Wouter van den Bijgaart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620256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6B8A"/>
                </a:solidFill>
                <a:latin typeface="Nunito"/>
              </a:rPr>
              <a:t>27 / 29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965960"/>
            <a:ext cx="5440680" cy="36118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solidFill>
              <a:srgbClr val="D8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965960"/>
            <a:ext cx="5440680" cy="292608"/>
          </a:xfrm>
          <a:prstGeom prst="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02536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Nunito"/>
              </a:rPr>
              <a:t>Outlook  —  Copilot search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423160"/>
            <a:ext cx="5074920" cy="457200"/>
          </a:xfrm>
          <a:prstGeom prst="roundRect">
            <a:avLst>
              <a:gd name="adj" fmla="val 40000"/>
            </a:avLst>
          </a:prstGeom>
          <a:solidFill>
            <a:srgbClr val="F1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468880"/>
            <a:ext cx="320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414099"/>
                </a:solidFill>
                <a:latin typeface="Nunito"/>
              </a:rPr>
              <a:t>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423160"/>
            <a:ext cx="4526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1">
                <a:solidFill>
                  <a:srgbClr val="050034"/>
                </a:solidFill>
                <a:latin typeface="Nunito"/>
              </a:rPr>
              <a:t>Find the contract Marc sent me last week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063240"/>
            <a:ext cx="5074920" cy="548640"/>
          </a:xfrm>
          <a:prstGeom prst="roundRect">
            <a:avLst>
              <a:gd name="adj" fmla="val 10000"/>
            </a:avLst>
          </a:prstGeom>
          <a:solidFill>
            <a:srgbClr val="F1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063240"/>
            <a:ext cx="91440" cy="548640"/>
          </a:xfrm>
          <a:prstGeom prst="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118104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50034"/>
                </a:solidFill>
                <a:latin typeface="Nunito"/>
              </a:rPr>
              <a:t>Marc Vermeer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337560"/>
            <a:ext cx="3977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6B8A"/>
                </a:solidFill>
                <a:latin typeface="Nunito"/>
              </a:rPr>
              <a:t>Re: SaaS contract — final version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322783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B8A"/>
                </a:solidFill>
                <a:latin typeface="Nunito"/>
              </a:rPr>
              <a:t>Tue 14:22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703320"/>
            <a:ext cx="5074920" cy="548640"/>
          </a:xfrm>
          <a:prstGeom prst="roundRect">
            <a:avLst>
              <a:gd name="adj" fmla="val 10000"/>
            </a:avLst>
          </a:prstGeom>
          <a:solidFill>
            <a:srgbClr val="F1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3703320"/>
            <a:ext cx="91440" cy="548640"/>
          </a:xfrm>
          <a:prstGeom prst="rect">
            <a:avLst/>
          </a:prstGeom>
          <a:solidFill>
            <a:srgbClr val="414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758184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50034"/>
                </a:solidFill>
                <a:latin typeface="Nunito"/>
              </a:rPr>
              <a:t>Marc Vermeer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977640"/>
            <a:ext cx="3977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6B8A"/>
                </a:solidFill>
                <a:latin typeface="Nunito"/>
              </a:rPr>
              <a:t>Q3 partnership terms (signed PDF)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386791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B8A"/>
                </a:solidFill>
                <a:latin typeface="Nunito"/>
              </a:rPr>
              <a:t>Mon 09:08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343400"/>
            <a:ext cx="5074920" cy="548640"/>
          </a:xfrm>
          <a:prstGeom prst="roundRect">
            <a:avLst>
              <a:gd name="adj" fmla="val 10000"/>
            </a:avLst>
          </a:prstGeom>
          <a:solidFill>
            <a:srgbClr val="F1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" y="4343400"/>
            <a:ext cx="91440" cy="548640"/>
          </a:xfrm>
          <a:prstGeom prst="rect">
            <a:avLst/>
          </a:prstGeom>
          <a:solidFill>
            <a:srgbClr val="6B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398264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50034"/>
                </a:solidFill>
                <a:latin typeface="Nunito"/>
              </a:rPr>
              <a:t>Compliance @ 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617720"/>
            <a:ext cx="3977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6B8A"/>
                </a:solidFill>
                <a:latin typeface="Nunito"/>
              </a:rPr>
              <a:t>Approval needed: contract review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92040" y="450799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B8A"/>
                </a:solidFill>
                <a:latin typeface="Nunito"/>
              </a:rPr>
              <a:t>Last Fri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2075688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2075688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unito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2011680"/>
            <a:ext cx="4892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50034"/>
                </a:solidFill>
                <a:latin typeface="Nunito"/>
              </a:rPr>
              <a:t>Plain-English queries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2304288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B6B8A"/>
                </a:solidFill>
                <a:latin typeface="Nunito"/>
              </a:rPr>
              <a:t>No syntax to memorise.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3640" y="2788920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63640" y="278892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unito"/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60" y="2724912"/>
            <a:ext cx="4892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50034"/>
                </a:solidFill>
                <a:latin typeface="Nunito"/>
              </a:rPr>
              <a:t>Searches everything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3017520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B6B8A"/>
                </a:solidFill>
                <a:latin typeface="Nunito"/>
              </a:rPr>
              <a:t>Mail, attachments, invites, notes.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63640" y="3502152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63640" y="3502152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unito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6560" y="3438144"/>
            <a:ext cx="4892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50034"/>
                </a:solidFill>
                <a:latin typeface="Nunito"/>
              </a:rPr>
              <a:t>Filters that just work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0" y="3730752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B6B8A"/>
                </a:solidFill>
                <a:latin typeface="Nunito"/>
              </a:rPr>
              <a:t>Sender, date, project, topic.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63640" y="4215384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4215384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unito"/>
              </a:rPr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66560" y="4151376"/>
            <a:ext cx="4892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50034"/>
                </a:solidFill>
                <a:latin typeface="Nunito"/>
              </a:rPr>
              <a:t>Thread summarising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0" y="4443984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B6B8A"/>
                </a:solidFill>
                <a:latin typeface="Nunito"/>
              </a:rPr>
              <a:t>What actually needs a reply.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63640" y="4928616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63640" y="4928616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unito"/>
              </a:rPr>
              <a:t>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66560" y="4864608"/>
            <a:ext cx="4892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50034"/>
                </a:solidFill>
                <a:latin typeface="Nunito"/>
              </a:rPr>
              <a:t>Drafts a reply too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66560" y="5157216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B6B8A"/>
                </a:solidFill>
                <a:latin typeface="Nunito"/>
              </a:rPr>
              <a:t>Grounded in the history.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48640" y="5779008"/>
            <a:ext cx="1554480" cy="457200"/>
          </a:xfrm>
          <a:prstGeom prst="roundRect">
            <a:avLst>
              <a:gd name="adj" fmla="val 40000"/>
            </a:avLst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5779008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Nunito"/>
              </a:rPr>
              <a:t>TRY THIS NEXT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240280" y="5779008"/>
            <a:ext cx="9372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>
                <a:solidFill>
                  <a:srgbClr val="050034"/>
                </a:solidFill>
                <a:latin typeface="Nunito"/>
              </a:rPr>
              <a:t>Open Outlook, hit the Copilot icon and try: “What did I miss while I was on holiday?”</a:t>
            </a:r>
          </a:p>
        </p:txBody>
      </p:sp>
    </p:spTree>
    <p:extLst>
      <p:ext uri="{BB962C8B-B14F-4D97-AF65-F5344CB8AC3E}">
        <p14:creationId xmlns:p14="http://schemas.microsoft.com/office/powerpoint/2010/main" val="22178007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8473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02336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414099"/>
                </a:solidFill>
                <a:latin typeface="Nunito"/>
              </a:rPr>
              <a:t>DEEP DIVE  •  NOTEBOOKS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50034"/>
                </a:solidFill>
                <a:latin typeface="Nunito"/>
              </a:rPr>
              <a:t>Grounded answers, on your sources only.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6B6B8A"/>
                </a:solidFill>
                <a:latin typeface="Nunito"/>
              </a:rPr>
              <a:t>Pin the documents, sites and chats that matter. Copilot answers from those, and only those.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565392"/>
            <a:ext cx="11064240" cy="9525"/>
          </a:xfrm>
          <a:prstGeom prst="rect">
            <a:avLst/>
          </a:prstGeom>
          <a:solidFill>
            <a:srgbClr val="D8D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620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6B8A"/>
                </a:solidFill>
                <a:latin typeface="Nunito"/>
              </a:rPr>
              <a:t>ING AI Day  •  13 May 2026  •  Wouter van den Bijgaart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620256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6B8A"/>
                </a:solidFill>
                <a:latin typeface="Nunito"/>
              </a:rPr>
              <a:t>28 / 29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965960"/>
            <a:ext cx="5440680" cy="36118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solidFill>
              <a:srgbClr val="D8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2240280"/>
            <a:ext cx="1630680" cy="3063240"/>
          </a:xfrm>
          <a:prstGeom prst="roundRect">
            <a:avLst>
              <a:gd name="adj" fmla="val 5000"/>
            </a:avLst>
          </a:prstGeom>
          <a:solidFill>
            <a:srgbClr val="F1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2240280"/>
            <a:ext cx="1630680" cy="91440"/>
          </a:xfrm>
          <a:prstGeom prst="rect">
            <a:avLst/>
          </a:prstGeom>
          <a:solidFill>
            <a:srgbClr val="8473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423160"/>
            <a:ext cx="1447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473B5"/>
                </a:solidFill>
                <a:latin typeface="Nunito"/>
              </a:rPr>
              <a:t>SOURCES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2788920"/>
            <a:ext cx="457200" cy="228600"/>
          </a:xfrm>
          <a:prstGeom prst="roundRect">
            <a:avLst>
              <a:gd name="adj" fmla="val 40000"/>
            </a:avLst>
          </a:prstGeom>
          <a:solidFill>
            <a:srgbClr val="8473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78892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Nunito"/>
              </a:rPr>
              <a:t>Doc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807208"/>
            <a:ext cx="853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050034"/>
                </a:solidFill>
                <a:latin typeface="Nunito"/>
              </a:rPr>
              <a:t>Project brief.docx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" y="3383280"/>
            <a:ext cx="457200" cy="228600"/>
          </a:xfrm>
          <a:prstGeom prst="roundRect">
            <a:avLst>
              <a:gd name="adj" fmla="val 40000"/>
            </a:avLst>
          </a:prstGeom>
          <a:solidFill>
            <a:srgbClr val="8473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38328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Nunito"/>
              </a:rPr>
              <a:t>Site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401568"/>
            <a:ext cx="853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050034"/>
                </a:solidFill>
                <a:latin typeface="Nunito"/>
              </a:rPr>
              <a:t>SharePoint /tribe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" y="3977640"/>
            <a:ext cx="457200" cy="228600"/>
          </a:xfrm>
          <a:prstGeom prst="roundRect">
            <a:avLst>
              <a:gd name="adj" fmla="val 40000"/>
            </a:avLst>
          </a:prstGeom>
          <a:solidFill>
            <a:srgbClr val="8473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97764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Nunito"/>
              </a:rPr>
              <a:t>Chat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3995928"/>
            <a:ext cx="853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050034"/>
                </a:solidFill>
                <a:latin typeface="Nunito"/>
              </a:rPr>
              <a:t>Teams thread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545080" y="2240280"/>
            <a:ext cx="1630680" cy="3063240"/>
          </a:xfrm>
          <a:prstGeom prst="roundRect">
            <a:avLst>
              <a:gd name="adj" fmla="val 5000"/>
            </a:avLst>
          </a:prstGeom>
          <a:solidFill>
            <a:srgbClr val="F1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545080" y="2240280"/>
            <a:ext cx="1630680" cy="91440"/>
          </a:xfrm>
          <a:prstGeom prst="rect">
            <a:avLst/>
          </a:prstGeom>
          <a:solidFill>
            <a:srgbClr val="414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36520" y="2423160"/>
            <a:ext cx="1447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414099"/>
                </a:solidFill>
                <a:latin typeface="Nunito"/>
              </a:rPr>
              <a:t>NOTEBOOK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82240" y="2807208"/>
            <a:ext cx="13563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050034"/>
                </a:solidFill>
                <a:latin typeface="Nunito"/>
              </a:rPr>
              <a:t>Project Atlas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82240" y="3401568"/>
            <a:ext cx="13563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050034"/>
                </a:solidFill>
                <a:latin typeface="Nunito"/>
              </a:rPr>
              <a:t>Pinned sources: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82240" y="3995928"/>
            <a:ext cx="13563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050034"/>
                </a:solidFill>
                <a:latin typeface="Nunito"/>
              </a:rPr>
              <a:t>Last refresh: 2h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67200" y="2240280"/>
            <a:ext cx="1630680" cy="3063240"/>
          </a:xfrm>
          <a:prstGeom prst="roundRect">
            <a:avLst>
              <a:gd name="adj" fmla="val 5000"/>
            </a:avLst>
          </a:prstGeom>
          <a:solidFill>
            <a:srgbClr val="F1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67200" y="2240280"/>
            <a:ext cx="1630680" cy="91440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8640" y="2423160"/>
            <a:ext cx="1447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6B1A"/>
                </a:solidFill>
                <a:latin typeface="Nunito"/>
              </a:rPr>
              <a:t>OUTPUTS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04360" y="2788920"/>
            <a:ext cx="457200" cy="228600"/>
          </a:xfrm>
          <a:prstGeom prst="roundRect">
            <a:avLst>
              <a:gd name="adj" fmla="val 40000"/>
            </a:avLst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04360" y="278892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Nunito"/>
              </a:rPr>
              <a:t>Sum.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07280" y="2807208"/>
            <a:ext cx="853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050034"/>
                </a:solidFill>
                <a:latin typeface="Nunito"/>
              </a:rPr>
              <a:t>Project summary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04360" y="3383280"/>
            <a:ext cx="457200" cy="228600"/>
          </a:xfrm>
          <a:prstGeom prst="roundRect">
            <a:avLst>
              <a:gd name="adj" fmla="val 40000"/>
            </a:avLst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04360" y="338328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Nunito"/>
              </a:rPr>
              <a:t>FAQ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07280" y="3401568"/>
            <a:ext cx="853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050034"/>
                </a:solidFill>
                <a:latin typeface="Nunito"/>
              </a:rPr>
              <a:t>Common questions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404360" y="3977640"/>
            <a:ext cx="457200" cy="228600"/>
          </a:xfrm>
          <a:prstGeom prst="roundRect">
            <a:avLst>
              <a:gd name="adj" fmla="val 40000"/>
            </a:avLst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04360" y="397764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Nunito"/>
              </a:rPr>
              <a:t>Audio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07280" y="3995928"/>
            <a:ext cx="853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050034"/>
                </a:solidFill>
                <a:latin typeface="Nunito"/>
              </a:rPr>
              <a:t>5-min overview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2435352" y="3607308"/>
            <a:ext cx="128016" cy="329184"/>
          </a:xfrm>
          <a:prstGeom prst="rightArrow">
            <a:avLst/>
          </a:prstGeom>
          <a:solidFill>
            <a:srgbClr val="414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ight Arrow 40"/>
          <p:cNvSpPr/>
          <p:nvPr/>
        </p:nvSpPr>
        <p:spPr>
          <a:xfrm>
            <a:off x="4157472" y="3607308"/>
            <a:ext cx="128016" cy="329184"/>
          </a:xfrm>
          <a:prstGeom prst="rightArrow">
            <a:avLst/>
          </a:prstGeom>
          <a:solidFill>
            <a:srgbClr val="414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263640" y="2075688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8473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2075688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unito"/>
              </a:rPr>
              <a:t>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66560" y="2011680"/>
            <a:ext cx="4892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50034"/>
                </a:solidFill>
                <a:latin typeface="Nunito"/>
              </a:rPr>
              <a:t>Pin your sources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0" y="2304288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B6B8A"/>
                </a:solidFill>
                <a:latin typeface="Nunito"/>
              </a:rPr>
              <a:t>Docs, sites, Teams chats.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63640" y="2788920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8473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63640" y="278892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unito"/>
              </a:rPr>
              <a:t>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66560" y="2724912"/>
            <a:ext cx="4892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50034"/>
                </a:solidFill>
                <a:latin typeface="Nunito"/>
              </a:rPr>
              <a:t>Focused answers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66560" y="3017520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B6B8A"/>
                </a:solidFill>
                <a:latin typeface="Nunito"/>
              </a:rPr>
              <a:t>Only your canon, fully cited.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263640" y="3502152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8473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63640" y="3502152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unito"/>
              </a:rPr>
              <a:t>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66560" y="3438144"/>
            <a:ext cx="4892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50034"/>
                </a:solidFill>
                <a:latin typeface="Nunito"/>
              </a:rPr>
              <a:t>Made for projects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66560" y="3730752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B6B8A"/>
                </a:solidFill>
                <a:latin typeface="Nunito"/>
              </a:rPr>
              <a:t>Deal teams, audits, recurring topics.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263640" y="4215384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8473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63640" y="4215384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unito"/>
              </a:rPr>
              <a:t>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66560" y="4151376"/>
            <a:ext cx="4892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50034"/>
                </a:solidFill>
                <a:latin typeface="Nunito"/>
              </a:rPr>
              <a:t>Summary, FAQ, audio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766560" y="4443984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B6B8A"/>
                </a:solidFill>
                <a:latin typeface="Nunito"/>
              </a:rPr>
              <a:t>Three views of one source set.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263640" y="4928616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8473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263640" y="4928616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unito"/>
              </a:rPr>
              <a:t>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766560" y="4864608"/>
            <a:ext cx="4892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50034"/>
                </a:solidFill>
                <a:latin typeface="Nunito"/>
              </a:rPr>
              <a:t>Share the notebook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766560" y="5157216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B6B8A"/>
                </a:solidFill>
                <a:latin typeface="Nunito"/>
              </a:rPr>
              <a:t>Same grounded Copilot for all.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48640" y="5779008"/>
            <a:ext cx="1554480" cy="457200"/>
          </a:xfrm>
          <a:prstGeom prst="roundRect">
            <a:avLst>
              <a:gd name="adj" fmla="val 40000"/>
            </a:avLst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48640" y="5779008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Nunito"/>
              </a:rPr>
              <a:t>TRY THIS NEXT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240280" y="5779008"/>
            <a:ext cx="9372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>
                <a:solidFill>
                  <a:srgbClr val="050034"/>
                </a:solidFill>
                <a:latin typeface="Nunito"/>
              </a:rPr>
              <a:t>Build a Notebook for your current project and ask: “What changed since last week?”</a:t>
            </a:r>
          </a:p>
        </p:txBody>
      </p:sp>
    </p:spTree>
    <p:extLst>
      <p:ext uri="{BB962C8B-B14F-4D97-AF65-F5344CB8AC3E}">
        <p14:creationId xmlns:p14="http://schemas.microsoft.com/office/powerpoint/2010/main" val="18238290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02336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414099"/>
                </a:solidFill>
                <a:latin typeface="Nunito"/>
              </a:rPr>
              <a:t>DEEP DIVE  •  MAKE TAB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50034"/>
                </a:solidFill>
                <a:latin typeface="Nunito"/>
              </a:rPr>
              <a:t>Infographics without the designer.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6B6B8A"/>
                </a:solidFill>
                <a:latin typeface="Nunito"/>
              </a:rPr>
              <a:t>Describe the story. Copilot drafts the visual. Edit blocks in place.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565392"/>
            <a:ext cx="11064240" cy="9525"/>
          </a:xfrm>
          <a:prstGeom prst="rect">
            <a:avLst/>
          </a:prstGeom>
          <a:solidFill>
            <a:srgbClr val="D8D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620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6B8A"/>
                </a:solidFill>
                <a:latin typeface="Nunito"/>
              </a:rPr>
              <a:t>ING AI Day  •  13 May 2026  •  Wouter van den Bijgaart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620256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6B8A"/>
                </a:solidFill>
                <a:latin typeface="Nunito"/>
              </a:rPr>
              <a:t>29 / 29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965960"/>
            <a:ext cx="5440680" cy="36118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solidFill>
              <a:srgbClr val="D8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965960"/>
            <a:ext cx="5440680" cy="292608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02536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Nunito"/>
              </a:rPr>
              <a:t>Copilot Chat  ›  Make  ›  AI Day agenda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377440"/>
            <a:ext cx="5074920" cy="3017520"/>
          </a:xfrm>
          <a:prstGeom prst="roundRect">
            <a:avLst>
              <a:gd name="adj" fmla="val 2000"/>
            </a:avLst>
          </a:prstGeom>
          <a:solidFill>
            <a:srgbClr val="FB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4400" y="2560320"/>
            <a:ext cx="4709160" cy="457200"/>
          </a:xfrm>
          <a:prstGeom prst="roundRect">
            <a:avLst>
              <a:gd name="adj" fmla="val 8000"/>
            </a:avLst>
          </a:prstGeom>
          <a:solidFill>
            <a:srgbClr val="414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560320"/>
            <a:ext cx="4709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Nunito"/>
              </a:rPr>
              <a:t>ING AI DAY  —  Agenda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200400"/>
            <a:ext cx="1447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8473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473708" y="3310128"/>
            <a:ext cx="329184" cy="329184"/>
          </a:xfrm>
          <a:prstGeom prst="ellipse">
            <a:avLst/>
          </a:prstGeom>
          <a:solidFill>
            <a:srgbClr val="8473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657600"/>
            <a:ext cx="1447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8473B5"/>
                </a:solidFill>
                <a:latin typeface="Nunito"/>
              </a:rPr>
              <a:t>9:30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858768"/>
            <a:ext cx="1447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050034"/>
                </a:solidFill>
                <a:latin typeface="Nunito"/>
              </a:rPr>
              <a:t>Welcome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453640" y="3200400"/>
            <a:ext cx="1447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8ED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012948" y="3310128"/>
            <a:ext cx="329184" cy="329184"/>
          </a:xfrm>
          <a:prstGeom prst="ellipse">
            <a:avLst/>
          </a:prstGeom>
          <a:solidFill>
            <a:srgbClr val="8ED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53640" y="3657600"/>
            <a:ext cx="1447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8ED8F8"/>
                </a:solidFill>
                <a:latin typeface="Nunito"/>
              </a:rPr>
              <a:t>10:30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53640" y="3858768"/>
            <a:ext cx="1447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050034"/>
                </a:solidFill>
                <a:latin typeface="Nunito"/>
              </a:rPr>
              <a:t>Workshop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92880" y="3200400"/>
            <a:ext cx="1447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AA6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552188" y="3310128"/>
            <a:ext cx="329184" cy="329184"/>
          </a:xfrm>
          <a:prstGeom prst="ellipse">
            <a:avLst/>
          </a:prstGeom>
          <a:solidFill>
            <a:srgbClr val="FAA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92880" y="3657600"/>
            <a:ext cx="1447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AA61A"/>
                </a:solidFill>
                <a:latin typeface="Nunito"/>
              </a:rPr>
              <a:t>12:00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92880" y="3858768"/>
            <a:ext cx="1447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050034"/>
                </a:solidFill>
                <a:latin typeface="Nunito"/>
              </a:rPr>
              <a:t>Hands-on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25196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6B6B8A"/>
                </a:solidFill>
                <a:latin typeface="Nunito"/>
              </a:rPr>
              <a:t>PALETTE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828800" y="4233672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414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148840" y="4233672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8473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468880" y="4233672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8ED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788920" y="4233672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FAA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108960" y="4233672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43400" y="425196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1">
                <a:solidFill>
                  <a:srgbClr val="6B6B8A"/>
                </a:solidFill>
                <a:latin typeface="Nunito"/>
              </a:rPr>
              <a:t>↺ Edit blocks in place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3640" y="2075688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63640" y="2075688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unito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60" y="2011680"/>
            <a:ext cx="4892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50034"/>
                </a:solidFill>
                <a:latin typeface="Nunito"/>
              </a:rPr>
              <a:t>Describe the story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2304288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B6B8A"/>
                </a:solidFill>
                <a:latin typeface="Nunito"/>
              </a:rPr>
              <a:t>Copilot drafts in seconds.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63640" y="2788920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63640" y="278892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unito"/>
              </a:rPr>
              <a:t>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6560" y="2724912"/>
            <a:ext cx="4892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50034"/>
                </a:solidFill>
                <a:latin typeface="Nunito"/>
              </a:rPr>
              <a:t>Edit blocks in place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0" y="3017520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B6B8A"/>
                </a:solidFill>
                <a:latin typeface="Nunito"/>
              </a:rPr>
              <a:t>Titles, icons, order, palette.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63640" y="3502152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3502152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unito"/>
              </a:rP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66560" y="3438144"/>
            <a:ext cx="4892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50034"/>
                </a:solidFill>
                <a:latin typeface="Nunito"/>
              </a:rPr>
              <a:t>Export anywhere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0" y="3730752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B6B8A"/>
                </a:solidFill>
                <a:latin typeface="Nunito"/>
              </a:rPr>
              <a:t>PNG, PowerPoint, Word.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63640" y="4215384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63640" y="4215384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unito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66560" y="4151376"/>
            <a:ext cx="4892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50034"/>
                </a:solidFill>
                <a:latin typeface="Nunito"/>
              </a:rPr>
              <a:t>Great for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66560" y="4443984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B6B8A"/>
                </a:solidFill>
                <a:latin typeface="Nunito"/>
              </a:rPr>
              <a:t>Explainers, process maps, one-pagers.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263640" y="4928616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63640" y="4928616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unito"/>
              </a:rPr>
              <a:t>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66560" y="4864608"/>
            <a:ext cx="4892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50034"/>
                </a:solidFill>
                <a:latin typeface="Nunito"/>
              </a:rPr>
              <a:t>Stop asking design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66560" y="5157216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B6B8A"/>
                </a:solidFill>
                <a:latin typeface="Nunito"/>
              </a:rPr>
              <a:t>Ship the v1 yourself.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48640" y="5779008"/>
            <a:ext cx="1554480" cy="457200"/>
          </a:xfrm>
          <a:prstGeom prst="roundRect">
            <a:avLst>
              <a:gd name="adj" fmla="val 40000"/>
            </a:avLst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8640" y="5779008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Nunito"/>
              </a:rPr>
              <a:t>TRY THIS NEXT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240280" y="5779008"/>
            <a:ext cx="9372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>
                <a:solidFill>
                  <a:srgbClr val="050034"/>
                </a:solidFill>
                <a:latin typeface="Nunito"/>
              </a:rPr>
              <a:t>Open Copilot Chat → Make and prompt: “Infographic of our AI Day agenda.”</a:t>
            </a:r>
          </a:p>
        </p:txBody>
      </p:sp>
    </p:spTree>
    <p:extLst>
      <p:ext uri="{BB962C8B-B14F-4D97-AF65-F5344CB8AC3E}">
        <p14:creationId xmlns:p14="http://schemas.microsoft.com/office/powerpoint/2010/main" val="26803524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8473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02336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414099"/>
                </a:solidFill>
                <a:latin typeface="Nunito"/>
              </a:rPr>
              <a:t>DEEP DIVE  •  CREATE TAB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50034"/>
                </a:solidFill>
                <a:latin typeface="Nunito"/>
              </a:rPr>
              <a:t>Your in-Copilot visual studio.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6B6B8A"/>
                </a:solidFill>
                <a:latin typeface="Nunito"/>
              </a:rPr>
              <a:t>Images, posters, banners, infographics — with your brand kit baked in.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565392"/>
            <a:ext cx="11064240" cy="9525"/>
          </a:xfrm>
          <a:prstGeom prst="rect">
            <a:avLst/>
          </a:prstGeom>
          <a:solidFill>
            <a:srgbClr val="D8D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620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6B8A"/>
                </a:solidFill>
                <a:latin typeface="Nunito"/>
              </a:rPr>
              <a:t>ING AI Day  •  13 May 2026  •  Wouter van den Bijgaart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620256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6B8A"/>
                </a:solidFill>
                <a:latin typeface="Nunito"/>
              </a:rPr>
              <a:t>30 / 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965960"/>
            <a:ext cx="5440680" cy="36118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solidFill>
              <a:srgbClr val="D8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965960"/>
            <a:ext cx="5440680" cy="292608"/>
          </a:xfrm>
          <a:prstGeom prst="rect">
            <a:avLst/>
          </a:prstGeom>
          <a:solidFill>
            <a:srgbClr val="8473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02536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Nunito"/>
              </a:rPr>
              <a:t>Copilot  ›  Create  ›  Library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423160"/>
            <a:ext cx="5074920" cy="502920"/>
          </a:xfrm>
          <a:prstGeom prst="roundRect">
            <a:avLst>
              <a:gd name="adj" fmla="val 12000"/>
            </a:avLst>
          </a:prstGeom>
          <a:solidFill>
            <a:srgbClr val="F1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423160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414099"/>
                </a:solidFill>
                <a:latin typeface="Nunito"/>
              </a:rPr>
              <a:t>BRAND KIT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57400" y="2560320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FF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423160" y="2560320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004D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788920" y="2560320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0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154680" y="2560320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D8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20440" y="2560320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114800" y="2514600"/>
            <a:ext cx="731520" cy="329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8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0" y="2514600"/>
            <a:ext cx="7315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6200"/>
                </a:solidFill>
                <a:latin typeface="Nunito"/>
              </a:rPr>
              <a:t>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3480" y="2487168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050034"/>
                </a:solidFill>
                <a:latin typeface="Nunito"/>
              </a:rPr>
              <a:t>Aa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258775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6B8A"/>
                </a:solidFill>
                <a:latin typeface="Nunito"/>
              </a:rPr>
              <a:t>ING Me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108960"/>
            <a:ext cx="1245870" cy="1554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D8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95528" y="3172968"/>
            <a:ext cx="1117854" cy="1097280"/>
          </a:xfrm>
          <a:prstGeom prst="roundRect">
            <a:avLst>
              <a:gd name="adj" fmla="val 5000"/>
            </a:avLst>
          </a:prstGeom>
          <a:solidFill>
            <a:srgbClr val="414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14400" y="3291840"/>
            <a:ext cx="274320" cy="274320"/>
          </a:xfrm>
          <a:prstGeom prst="ellipse">
            <a:avLst/>
          </a:prstGeom>
          <a:solidFill>
            <a:srgbClr val="8ED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4400" y="3749040"/>
            <a:ext cx="742950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4400" y="3886200"/>
            <a:ext cx="514350" cy="54864"/>
          </a:xfrm>
          <a:prstGeom prst="rect">
            <a:avLst/>
          </a:prstGeom>
          <a:solidFill>
            <a:srgbClr val="FAA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343400"/>
            <a:ext cx="124587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50034"/>
                </a:solidFill>
                <a:latin typeface="Nunito"/>
              </a:rPr>
              <a:t>Poster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068830" y="3108960"/>
            <a:ext cx="1245870" cy="1554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D8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132838" y="3172968"/>
            <a:ext cx="1117854" cy="1097280"/>
          </a:xfrm>
          <a:prstGeom prst="roundRect">
            <a:avLst>
              <a:gd name="adj" fmla="val 5000"/>
            </a:avLst>
          </a:prstGeom>
          <a:solidFill>
            <a:srgbClr val="8ED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251710" y="3291840"/>
            <a:ext cx="274320" cy="274320"/>
          </a:xfrm>
          <a:prstGeom prst="ellipse">
            <a:avLst/>
          </a:prstGeom>
          <a:solidFill>
            <a:srgbClr val="414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251710" y="3749040"/>
            <a:ext cx="742950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51710" y="3886200"/>
            <a:ext cx="51435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068830" y="4343400"/>
            <a:ext cx="124587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50034"/>
                </a:solidFill>
                <a:latin typeface="Nunito"/>
              </a:rPr>
              <a:t>Banner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06140" y="3108960"/>
            <a:ext cx="1245870" cy="1554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D8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470148" y="3172968"/>
            <a:ext cx="1117854" cy="1097280"/>
          </a:xfrm>
          <a:prstGeom prst="roundRect">
            <a:avLst>
              <a:gd name="adj" fmla="val 5000"/>
            </a:avLst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589020" y="3291840"/>
            <a:ext cx="274320" cy="274320"/>
          </a:xfrm>
          <a:prstGeom prst="ellipse">
            <a:avLst/>
          </a:prstGeom>
          <a:solidFill>
            <a:srgbClr val="414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589020" y="3749040"/>
            <a:ext cx="742950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589020" y="3886200"/>
            <a:ext cx="514350" cy="54864"/>
          </a:xfrm>
          <a:prstGeom prst="rect">
            <a:avLst/>
          </a:prstGeom>
          <a:solidFill>
            <a:srgbClr val="8ED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06140" y="4343400"/>
            <a:ext cx="124587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50034"/>
                </a:solidFill>
                <a:latin typeface="Nunito"/>
              </a:rPr>
              <a:t>Social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743450" y="3108960"/>
            <a:ext cx="1245870" cy="1554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D8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807458" y="3172968"/>
            <a:ext cx="1117854" cy="1097280"/>
          </a:xfrm>
          <a:prstGeom prst="roundRect">
            <a:avLst>
              <a:gd name="adj" fmla="val 5000"/>
            </a:avLst>
          </a:prstGeom>
          <a:solidFill>
            <a:srgbClr val="8473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926330" y="3291840"/>
            <a:ext cx="274320" cy="274320"/>
          </a:xfrm>
          <a:prstGeom prst="ellipse">
            <a:avLst/>
          </a:prstGeom>
          <a:solidFill>
            <a:srgbClr val="FAA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926330" y="3749040"/>
            <a:ext cx="742950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926330" y="3886200"/>
            <a:ext cx="514350" cy="54864"/>
          </a:xfrm>
          <a:prstGeom prst="rect">
            <a:avLst/>
          </a:prstGeom>
          <a:solidFill>
            <a:srgbClr val="8ED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743450" y="4343400"/>
            <a:ext cx="124587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50034"/>
                </a:solidFill>
                <a:latin typeface="Nunito"/>
              </a:rPr>
              <a:t>Infogr.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63640" y="2075688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8473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63640" y="2075688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unito"/>
              </a:rPr>
              <a:t>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66560" y="2011680"/>
            <a:ext cx="4892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50034"/>
                </a:solidFill>
                <a:latin typeface="Nunito"/>
              </a:rPr>
              <a:t>Generate visuals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66560" y="2304288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B6B8A"/>
                </a:solidFill>
                <a:latin typeface="Nunito"/>
              </a:rPr>
              <a:t>From a single prompt.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263640" y="2788920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8473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63640" y="278892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unito"/>
              </a:rPr>
              <a:t>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66560" y="2724912"/>
            <a:ext cx="4892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50034"/>
                </a:solidFill>
                <a:latin typeface="Nunito"/>
              </a:rPr>
              <a:t>Your brand kit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66560" y="3017520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B6B8A"/>
                </a:solidFill>
                <a:latin typeface="Nunito"/>
              </a:rPr>
              <a:t>Logos, colours, fonts applied.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263640" y="3502152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8473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263640" y="3502152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unito"/>
              </a:rPr>
              <a:t>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766560" y="3438144"/>
            <a:ext cx="4892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50034"/>
                </a:solidFill>
                <a:latin typeface="Nunito"/>
              </a:rPr>
              <a:t>Branded templates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766560" y="3730752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B6B8A"/>
                </a:solidFill>
                <a:latin typeface="Nunito"/>
              </a:rPr>
              <a:t>PowerPoint, Word, Excel ready.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263640" y="4215384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8473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263640" y="4215384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unito"/>
              </a:rPr>
              <a:t>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766560" y="4151376"/>
            <a:ext cx="4892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50034"/>
                </a:solidFill>
                <a:latin typeface="Nunito"/>
              </a:rPr>
              <a:t>Edit &amp; restyle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766560" y="4443984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B6B8A"/>
                </a:solidFill>
                <a:latin typeface="Nunito"/>
              </a:rPr>
              <a:t>Drop into Designer or your deck.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263640" y="4928616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8473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263640" y="4928616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unito"/>
              </a:rPr>
              <a:t>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766560" y="4864608"/>
            <a:ext cx="4892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50034"/>
                </a:solidFill>
                <a:latin typeface="Nunito"/>
              </a:rPr>
              <a:t>Lands in Library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766560" y="5157216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B6B8A"/>
                </a:solidFill>
                <a:latin typeface="Nunito"/>
              </a:rPr>
              <a:t>Reuse across the team.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48640" y="5779008"/>
            <a:ext cx="1554480" cy="457200"/>
          </a:xfrm>
          <a:prstGeom prst="roundRect">
            <a:avLst>
              <a:gd name="adj" fmla="val 40000"/>
            </a:avLst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48640" y="5779008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Nunito"/>
              </a:rPr>
              <a:t>TRY THIS NEXT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240280" y="5779008"/>
            <a:ext cx="9372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>
                <a:solidFill>
                  <a:srgbClr val="050034"/>
                </a:solidFill>
                <a:latin typeface="Nunito"/>
              </a:rPr>
              <a:t>“Create an infographic about our AI Day agenda using our ING brand kit.”</a:t>
            </a:r>
          </a:p>
        </p:txBody>
      </p:sp>
    </p:spTree>
    <p:extLst>
      <p:ext uri="{BB962C8B-B14F-4D97-AF65-F5344CB8AC3E}">
        <p14:creationId xmlns:p14="http://schemas.microsoft.com/office/powerpoint/2010/main" val="22116121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6DC0FF9-B62E-224E-875D-765051BE8CF6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9527c0c9-d849-4b6d-bc5d-b806163a7e44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2960</Words>
  <Application>Microsoft Macintosh PowerPoint</Application>
  <PresentationFormat>Widescreen</PresentationFormat>
  <Paragraphs>481</Paragraphs>
  <Slides>29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Arial</vt:lpstr>
      <vt:lpstr>Consolas</vt:lpstr>
      <vt:lpstr>Nunito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Copilot Agents &amp; Advanced Prompts - ING AI Day</dc:title>
  <dc:subject>ING AI Day, 13 May 2026</dc:subject>
  <dc:creator>Wouter van den Bijgaart / TwoFeetUp</dc:creator>
  <cp:lastModifiedBy>Wouter van den Bijgaart</cp:lastModifiedBy>
  <cp:revision>17</cp:revision>
  <dcterms:created xsi:type="dcterms:W3CDTF">2026-05-12T22:14:23Z</dcterms:created>
  <dcterms:modified xsi:type="dcterms:W3CDTF">2026-05-13T07:53:01Z</dcterms:modified>
</cp:coreProperties>
</file>